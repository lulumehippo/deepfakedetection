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15"/>
  </p:notesMasterIdLst>
  <p:sldIdLst>
    <p:sldId id="256" r:id="rId3"/>
    <p:sldId id="257" r:id="rId4"/>
    <p:sldId id="258" r:id="rId5"/>
    <p:sldId id="259" r:id="rId6"/>
    <p:sldId id="260" r:id="rId7"/>
    <p:sldId id="261" r:id="rId8"/>
    <p:sldId id="268" r:id="rId9"/>
    <p:sldId id="269" r:id="rId10"/>
    <p:sldId id="263" r:id="rId11"/>
    <p:sldId id="265" r:id="rId12"/>
    <p:sldId id="270" r:id="rId13"/>
    <p:sldId id="267" r:id="rId14"/>
  </p:sldIdLst>
  <p:sldSz cx="12192000" cy="6858000"/>
  <p:notesSz cx="6858000" cy="12192000"/>
  <p:embeddedFontLst>
    <p:embeddedFont>
      <p:font typeface="Play" panose="020B0604020202020204" charset="0"/>
      <p:regular r:id="rId16"/>
      <p:bold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j9rsbWhvyZaEZUT733PsjdrQJOI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7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2.fntdata"/><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8.xml"/><Relationship Id="rId19"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
        <p:cNvGrpSpPr/>
        <p:nvPr/>
      </p:nvGrpSpPr>
      <p:grpSpPr>
        <a:xfrm>
          <a:off x="0" y="0"/>
          <a:ext cx="0" cy="0"/>
          <a:chOff x="0" y="0"/>
          <a:chExt cx="0" cy="0"/>
        </a:xfrm>
      </p:grpSpPr>
      <p:sp>
        <p:nvSpPr>
          <p:cNvPr id="29" name="Google Shape;2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 name="Google Shape;3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 name="Google Shape;3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 name="Google Shape;5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 name="Google Shape;54;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 name="Google Shape;7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 name="Google Shape;71;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11</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extLst>
      <p:ext uri="{BB962C8B-B14F-4D97-AF65-F5344CB8AC3E}">
        <p14:creationId xmlns:p14="http://schemas.microsoft.com/office/powerpoint/2010/main" val="408545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9021766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extLst>
      <p:ext uri="{BB962C8B-B14F-4D97-AF65-F5344CB8AC3E}">
        <p14:creationId xmlns:p14="http://schemas.microsoft.com/office/powerpoint/2010/main" val="1725394407"/>
      </p:ext>
    </p:extLst>
  </p:cSld>
  <p:clrMap bg1="lt1" tx1="dk1" bg2="dk2" tx2="lt2" accent1="accent1" accent2="accent2" accent3="accent3" accent4="accent4" accent5="accent5" accent6="accent6" hlink="hlink" folHlink="folHlink"/>
  <p:sldLayoutIdLst>
    <p:sldLayoutId id="2147483651" r:id="rId1"/>
    <p:sldLayoutId id="214748365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hyperlink" Target="https://doi.org/10.1109/LSP.2016.2603342" TargetMode="External"/><Relationship Id="rId3" Type="http://schemas.openxmlformats.org/officeDocument/2006/relationships/hyperlink" Target="https://arxiv.org/abs/1912.01703" TargetMode="External"/><Relationship Id="rId7" Type="http://schemas.openxmlformats.org/officeDocument/2006/relationships/hyperlink" Target="https://www.kaggle.com/datasets/sanikatiwarekar/deep-fake-detection-dfd-entire-original-datase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arxiv.org/abs/1905.11946" TargetMode="External"/><Relationship Id="rId5" Type="http://schemas.openxmlformats.org/officeDocument/2006/relationships/hyperlink" Target="https://doi.org/10.1109/ICCV.2017.74" TargetMode="External"/><Relationship Id="rId4" Type="http://schemas.openxmlformats.org/officeDocument/2006/relationships/hyperlink" Target="https://arxiv.org/abs/1901.0897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2A44"/>
        </a:solidFill>
        <a:effectLst/>
      </p:bgPr>
    </p:bg>
    <p:spTree>
      <p:nvGrpSpPr>
        <p:cNvPr id="1" name="Shape 15"/>
        <p:cNvGrpSpPr/>
        <p:nvPr/>
      </p:nvGrpSpPr>
      <p:grpSpPr>
        <a:xfrm>
          <a:off x="0" y="0"/>
          <a:ext cx="0" cy="0"/>
          <a:chOff x="0" y="0"/>
          <a:chExt cx="0" cy="0"/>
        </a:xfrm>
      </p:grpSpPr>
      <p:sp>
        <p:nvSpPr>
          <p:cNvPr id="16" name="Google Shape;16;p1"/>
          <p:cNvSpPr/>
          <p:nvPr/>
        </p:nvSpPr>
        <p:spPr>
          <a:xfrm>
            <a:off x="0" y="0"/>
            <a:ext cx="12191695" cy="6858000"/>
          </a:xfrm>
          <a:prstGeom prst="rect">
            <a:avLst/>
          </a:prstGeom>
          <a:solidFill>
            <a:srgbClr val="1F2A44"/>
          </a:solidFill>
          <a:ln w="12700" cap="flat" cmpd="sng">
            <a:solidFill>
              <a:srgbClr val="1F2A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1"/>
          <p:cNvSpPr/>
          <p:nvPr/>
        </p:nvSpPr>
        <p:spPr>
          <a:xfrm>
            <a:off x="7863840" y="-411480"/>
            <a:ext cx="3840480" cy="3840480"/>
          </a:xfrm>
          <a:prstGeom prst="arc">
            <a:avLst>
              <a:gd name="adj1" fmla="val 16200000"/>
              <a:gd name="adj2" fmla="val 0"/>
            </a:avLst>
          </a:prstGeom>
          <a:noFill/>
          <a:ln w="12700" cap="flat" cmpd="sng">
            <a:solidFill>
              <a:srgbClr val="39B8FF">
                <a:alpha val="85098"/>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1"/>
          <p:cNvSpPr/>
          <p:nvPr/>
        </p:nvSpPr>
        <p:spPr>
          <a:xfrm>
            <a:off x="8595360" y="3383280"/>
            <a:ext cx="3474720" cy="3474720"/>
          </a:xfrm>
          <a:prstGeom prst="arc">
            <a:avLst>
              <a:gd name="adj1" fmla="val 16200000"/>
              <a:gd name="adj2" fmla="val 0"/>
            </a:avLst>
          </a:prstGeom>
          <a:noFill/>
          <a:ln w="12700" cap="flat" cmpd="sng">
            <a:solidFill>
              <a:srgbClr val="2F6BFF">
                <a:alpha val="8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1"/>
          <p:cNvSpPr/>
          <p:nvPr/>
        </p:nvSpPr>
        <p:spPr>
          <a:xfrm>
            <a:off x="594360" y="1051560"/>
            <a:ext cx="6309360" cy="1417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800"/>
              <a:buFont typeface="Play"/>
              <a:buNone/>
            </a:pPr>
            <a:r>
              <a:rPr lang="en-US" sz="3800" b="1" i="0" u="none" strike="noStrike" cap="none" dirty="0">
                <a:solidFill>
                  <a:srgbClr val="FFFFFF"/>
                </a:solidFill>
                <a:latin typeface="Play"/>
                <a:ea typeface="Play"/>
                <a:cs typeface="Play"/>
                <a:sym typeface="Play"/>
              </a:rPr>
              <a:t>Deepfake Detection</a:t>
            </a:r>
            <a:endParaRPr sz="38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Clr>
                <a:srgbClr val="FFFFFF"/>
              </a:buClr>
              <a:buSzPts val="3800"/>
              <a:buFont typeface="Play"/>
              <a:buNone/>
            </a:pPr>
            <a:r>
              <a:rPr lang="en-US" sz="3800" b="1" i="0" u="none" strike="noStrike" cap="none" dirty="0">
                <a:solidFill>
                  <a:srgbClr val="FFFFFF"/>
                </a:solidFill>
                <a:latin typeface="Play"/>
                <a:ea typeface="Play"/>
                <a:cs typeface="Play"/>
                <a:sym typeface="Play"/>
              </a:rPr>
              <a:t>Using CNNs</a:t>
            </a:r>
            <a:endParaRPr sz="3800" b="0" i="0" u="none" strike="noStrike" cap="none" dirty="0">
              <a:solidFill>
                <a:schemeClr val="dk1"/>
              </a:solidFill>
              <a:latin typeface="Arial"/>
              <a:ea typeface="Arial"/>
              <a:cs typeface="Arial"/>
              <a:sym typeface="Arial"/>
            </a:endParaRPr>
          </a:p>
        </p:txBody>
      </p:sp>
      <p:sp>
        <p:nvSpPr>
          <p:cNvPr id="20" name="Google Shape;20;p1"/>
          <p:cNvSpPr/>
          <p:nvPr/>
        </p:nvSpPr>
        <p:spPr>
          <a:xfrm>
            <a:off x="658368" y="2770632"/>
            <a:ext cx="576072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1D5DB"/>
              </a:buClr>
              <a:buSzPts val="1500"/>
              <a:buFont typeface="Arial"/>
              <a:buNone/>
            </a:pPr>
            <a:r>
              <a:rPr lang="en-US" sz="1500" b="0" i="0" u="none" strike="noStrike" cap="none">
                <a:solidFill>
                  <a:srgbClr val="D1D5DB"/>
                </a:solidFill>
                <a:latin typeface="Arial"/>
                <a:ea typeface="Arial"/>
                <a:cs typeface="Arial"/>
                <a:sym typeface="Arial"/>
              </a:rPr>
              <a:t>Training a PyTorch image classification model to identify real vs. manipulated face videos</a:t>
            </a:r>
            <a:endParaRPr sz="1500" b="0" i="0" u="none" strike="noStrike" cap="none">
              <a:solidFill>
                <a:schemeClr val="dk1"/>
              </a:solidFill>
              <a:latin typeface="Arial"/>
              <a:ea typeface="Arial"/>
              <a:cs typeface="Arial"/>
              <a:sym typeface="Arial"/>
            </a:endParaRPr>
          </a:p>
        </p:txBody>
      </p:sp>
      <p:sp>
        <p:nvSpPr>
          <p:cNvPr id="21" name="Google Shape;21;p1"/>
          <p:cNvSpPr/>
          <p:nvPr/>
        </p:nvSpPr>
        <p:spPr>
          <a:xfrm>
            <a:off x="658368" y="3520440"/>
            <a:ext cx="1325880" cy="347472"/>
          </a:xfrm>
          <a:prstGeom prst="roundRect">
            <a:avLst>
              <a:gd name="adj" fmla="val 26316"/>
            </a:avLst>
          </a:prstGeom>
          <a:solidFill>
            <a:srgbClr val="2F6BFF"/>
          </a:solidFill>
          <a:ln w="12700" cap="flat" cmpd="sng">
            <a:solidFill>
              <a:srgbClr val="2F6B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1"/>
          <p:cNvSpPr/>
          <p:nvPr/>
        </p:nvSpPr>
        <p:spPr>
          <a:xfrm>
            <a:off x="658368" y="3607308"/>
            <a:ext cx="1325880" cy="1463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Arial"/>
              <a:buNone/>
            </a:pPr>
            <a:r>
              <a:rPr lang="en-US" sz="900" b="1" i="0" u="none" strike="noStrike" cap="none">
                <a:solidFill>
                  <a:srgbClr val="FFFFFF"/>
                </a:solidFill>
                <a:latin typeface="Arial"/>
                <a:ea typeface="Arial"/>
                <a:cs typeface="Arial"/>
                <a:sym typeface="Arial"/>
              </a:rPr>
              <a:t>PyTorch</a:t>
            </a:r>
            <a:endParaRPr sz="900" b="0" i="0" u="none" strike="noStrike" cap="none">
              <a:solidFill>
                <a:schemeClr val="dk1"/>
              </a:solidFill>
              <a:latin typeface="Arial"/>
              <a:ea typeface="Arial"/>
              <a:cs typeface="Arial"/>
              <a:sym typeface="Arial"/>
            </a:endParaRPr>
          </a:p>
        </p:txBody>
      </p:sp>
      <p:sp>
        <p:nvSpPr>
          <p:cNvPr id="23" name="Google Shape;23;p1"/>
          <p:cNvSpPr/>
          <p:nvPr/>
        </p:nvSpPr>
        <p:spPr>
          <a:xfrm>
            <a:off x="2121408" y="3520440"/>
            <a:ext cx="1554480" cy="347472"/>
          </a:xfrm>
          <a:prstGeom prst="roundRect">
            <a:avLst>
              <a:gd name="adj" fmla="val 26316"/>
            </a:avLst>
          </a:prstGeom>
          <a:solidFill>
            <a:srgbClr val="0EA5A4"/>
          </a:solidFill>
          <a:ln w="12700" cap="flat" cmpd="sng">
            <a:solidFill>
              <a:srgbClr val="0EA5A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1"/>
          <p:cNvSpPr/>
          <p:nvPr/>
        </p:nvSpPr>
        <p:spPr>
          <a:xfrm>
            <a:off x="2121408" y="3607308"/>
            <a:ext cx="1554480" cy="1463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Arial"/>
              <a:buNone/>
            </a:pPr>
            <a:r>
              <a:rPr lang="en-US" sz="900" b="1" i="0" u="none" strike="noStrike" cap="none">
                <a:solidFill>
                  <a:srgbClr val="FFFFFF"/>
                </a:solidFill>
                <a:latin typeface="Arial"/>
                <a:ea typeface="Arial"/>
                <a:cs typeface="Arial"/>
                <a:sym typeface="Arial"/>
              </a:rPr>
              <a:t>Computer Vision</a:t>
            </a:r>
            <a:endParaRPr sz="900" b="0" i="0" u="none" strike="noStrike" cap="none">
              <a:solidFill>
                <a:schemeClr val="dk1"/>
              </a:solidFill>
              <a:latin typeface="Arial"/>
              <a:ea typeface="Arial"/>
              <a:cs typeface="Arial"/>
              <a:sym typeface="Arial"/>
            </a:endParaRPr>
          </a:p>
        </p:txBody>
      </p:sp>
      <p:sp>
        <p:nvSpPr>
          <p:cNvPr id="25" name="Google Shape;25;p1"/>
          <p:cNvSpPr/>
          <p:nvPr/>
        </p:nvSpPr>
        <p:spPr>
          <a:xfrm>
            <a:off x="3840480" y="3520440"/>
            <a:ext cx="1325880" cy="347472"/>
          </a:xfrm>
          <a:prstGeom prst="roundRect">
            <a:avLst>
              <a:gd name="adj" fmla="val 26316"/>
            </a:avLst>
          </a:prstGeom>
          <a:solidFill>
            <a:srgbClr val="6D5DFD"/>
          </a:solidFill>
          <a:ln w="12700" cap="flat" cmpd="sng">
            <a:solidFill>
              <a:srgbClr val="6D5DF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1"/>
          <p:cNvSpPr/>
          <p:nvPr/>
        </p:nvSpPr>
        <p:spPr>
          <a:xfrm>
            <a:off x="3840480" y="3607308"/>
            <a:ext cx="1325880" cy="1463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Arial"/>
              <a:buNone/>
            </a:pPr>
            <a:r>
              <a:rPr lang="en-US" sz="900" b="1" i="0" u="none" strike="noStrike" cap="none">
                <a:solidFill>
                  <a:srgbClr val="FFFFFF"/>
                </a:solidFill>
                <a:latin typeface="Arial"/>
                <a:ea typeface="Arial"/>
                <a:cs typeface="Arial"/>
                <a:sym typeface="Arial"/>
              </a:rPr>
              <a:t>CNNs</a:t>
            </a:r>
            <a:endParaRPr sz="900" b="0" i="0" u="none" strike="noStrike" cap="none">
              <a:solidFill>
                <a:schemeClr val="dk1"/>
              </a:solidFill>
              <a:latin typeface="Arial"/>
              <a:ea typeface="Arial"/>
              <a:cs typeface="Arial"/>
              <a:sym typeface="Arial"/>
            </a:endParaRPr>
          </a:p>
        </p:txBody>
      </p:sp>
      <p:sp>
        <p:nvSpPr>
          <p:cNvPr id="27" name="Google Shape;27;p1"/>
          <p:cNvSpPr/>
          <p:nvPr/>
        </p:nvSpPr>
        <p:spPr>
          <a:xfrm>
            <a:off x="658368" y="5760720"/>
            <a:ext cx="47548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5E7EB"/>
              </a:buClr>
              <a:buSzPts val="1200"/>
              <a:buFont typeface="Arial"/>
              <a:buNone/>
            </a:pPr>
            <a:r>
              <a:rPr lang="en-US" sz="1200" b="0" i="0" u="none" strike="noStrike" cap="none">
                <a:solidFill>
                  <a:srgbClr val="E5E7EB"/>
                </a:solidFill>
                <a:latin typeface="Arial"/>
                <a:ea typeface="Arial"/>
                <a:cs typeface="Arial"/>
                <a:sym typeface="Arial"/>
              </a:rPr>
              <a:t>Ben Wayland, Chloe Just, Luke Lu</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Clr>
                <a:srgbClr val="E5E7EB"/>
              </a:buClr>
              <a:buSzPts val="1200"/>
              <a:buFont typeface="Arial"/>
              <a:buNone/>
            </a:pPr>
            <a:r>
              <a:rPr lang="en-US" sz="1200" b="0" i="0" u="none" strike="noStrike" cap="none">
                <a:solidFill>
                  <a:srgbClr val="E5E7EB"/>
                </a:solidFill>
                <a:latin typeface="Arial"/>
                <a:ea typeface="Arial"/>
                <a:cs typeface="Arial"/>
                <a:sym typeface="Arial"/>
              </a:rPr>
              <a:t>DATA 621 Final Project</a:t>
            </a:r>
            <a:endParaRPr sz="1200" b="0" i="0" u="none" strike="noStrike" cap="non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
        <p:cNvGrpSpPr/>
        <p:nvPr/>
      </p:nvGrpSpPr>
      <p:grpSpPr>
        <a:xfrm>
          <a:off x="0" y="0"/>
          <a:ext cx="0" cy="0"/>
          <a:chOff x="0" y="0"/>
          <a:chExt cx="0" cy="0"/>
        </a:xfrm>
      </p:grpSpPr>
      <p:sp>
        <p:nvSpPr>
          <p:cNvPr id="33" name="Google Shape;33;p2"/>
          <p:cNvSpPr/>
          <p:nvPr/>
        </p:nvSpPr>
        <p:spPr>
          <a:xfrm>
            <a:off x="0" y="0"/>
            <a:ext cx="12191695" cy="164592"/>
          </a:xfrm>
          <a:prstGeom prst="rect">
            <a:avLst/>
          </a:prstGeom>
          <a:solidFill>
            <a:srgbClr val="2F6BFF"/>
          </a:solidFill>
          <a:ln w="12700" cap="flat" cmpd="sng">
            <a:solidFill>
              <a:srgbClr val="2F6B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0" y="6547104"/>
            <a:ext cx="12191695" cy="310896"/>
          </a:xfrm>
          <a:prstGeom prst="rect">
            <a:avLst/>
          </a:prstGeom>
          <a:solidFill>
            <a:srgbClr val="1F2A44"/>
          </a:solidFill>
          <a:ln w="12700" cap="flat" cmpd="sng">
            <a:solidFill>
              <a:srgbClr val="1F2A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502920" y="411480"/>
            <a:ext cx="1088136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2700"/>
              <a:buFont typeface="Play"/>
              <a:buNone/>
            </a:pPr>
            <a:r>
              <a:rPr lang="en-US" sz="2700" b="1" i="0" u="none" strike="noStrike" cap="none">
                <a:solidFill>
                  <a:srgbClr val="1F2A44"/>
                </a:solidFill>
                <a:latin typeface="Play"/>
                <a:ea typeface="Play"/>
                <a:cs typeface="Play"/>
                <a:sym typeface="Play"/>
              </a:rPr>
              <a:t>Why We Chose This Project</a:t>
            </a:r>
            <a:endParaRPr sz="2700" b="0" i="0" u="none" strike="noStrike" cap="none">
              <a:solidFill>
                <a:schemeClr val="dk1"/>
              </a:solidFill>
              <a:latin typeface="Arial"/>
              <a:ea typeface="Arial"/>
              <a:cs typeface="Arial"/>
              <a:sym typeface="Arial"/>
            </a:endParaRPr>
          </a:p>
        </p:txBody>
      </p:sp>
      <p:sp>
        <p:nvSpPr>
          <p:cNvPr id="36" name="Google Shape;36;p2"/>
          <p:cNvSpPr/>
          <p:nvPr/>
        </p:nvSpPr>
        <p:spPr>
          <a:xfrm>
            <a:off x="530352" y="941832"/>
            <a:ext cx="106984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100"/>
              <a:buFont typeface="Arial"/>
              <a:buNone/>
            </a:pPr>
            <a:r>
              <a:rPr lang="en-US" sz="1100" b="0" i="0" u="none" strike="noStrike" cap="none">
                <a:solidFill>
                  <a:srgbClr val="6B7280"/>
                </a:solidFill>
                <a:latin typeface="Arial"/>
                <a:ea typeface="Arial"/>
                <a:cs typeface="Arial"/>
                <a:sym typeface="Arial"/>
              </a:rPr>
              <a:t>The topic connects deep learning to a real-world problem in media trust and digital security.</a:t>
            </a:r>
            <a:endParaRPr sz="1100" b="0" i="0" u="none" strike="noStrike" cap="none">
              <a:solidFill>
                <a:schemeClr val="dk1"/>
              </a:solidFill>
              <a:latin typeface="Arial"/>
              <a:ea typeface="Arial"/>
              <a:cs typeface="Arial"/>
              <a:sym typeface="Arial"/>
            </a:endParaRPr>
          </a:p>
        </p:txBody>
      </p:sp>
      <p:sp>
        <p:nvSpPr>
          <p:cNvPr id="37" name="Google Shape;37;p2"/>
          <p:cNvSpPr/>
          <p:nvPr/>
        </p:nvSpPr>
        <p:spPr>
          <a:xfrm>
            <a:off x="502920" y="6620256"/>
            <a:ext cx="292608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5E7EB"/>
              </a:buClr>
              <a:buSzPts val="750"/>
              <a:buFont typeface="Arial"/>
              <a:buNone/>
            </a:pPr>
            <a:r>
              <a:rPr lang="en-US" sz="750" b="0" i="0" u="none" strike="noStrike" cap="none">
                <a:solidFill>
                  <a:srgbClr val="E5E7EB"/>
                </a:solidFill>
                <a:latin typeface="Arial"/>
                <a:ea typeface="Arial"/>
                <a:cs typeface="Arial"/>
                <a:sym typeface="Arial"/>
              </a:rPr>
              <a:t>DATA 621 Final Project | 2</a:t>
            </a:r>
            <a:endParaRPr sz="750" b="0" i="0" u="none" strike="noStrike" cap="none">
              <a:solidFill>
                <a:schemeClr val="dk1"/>
              </a:solidFill>
              <a:latin typeface="Arial"/>
              <a:ea typeface="Arial"/>
              <a:cs typeface="Arial"/>
              <a:sym typeface="Arial"/>
            </a:endParaRPr>
          </a:p>
        </p:txBody>
      </p:sp>
      <p:sp>
        <p:nvSpPr>
          <p:cNvPr id="38" name="Google Shape;38;p2"/>
          <p:cNvSpPr/>
          <p:nvPr/>
        </p:nvSpPr>
        <p:spPr>
          <a:xfrm>
            <a:off x="685800" y="1508760"/>
            <a:ext cx="3383280" cy="1463040"/>
          </a:xfrm>
          <a:prstGeom prst="roundRect">
            <a:avLst>
              <a:gd name="adj" fmla="val 3750"/>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685800" y="1508760"/>
            <a:ext cx="73152" cy="1463040"/>
          </a:xfrm>
          <a:prstGeom prst="rect">
            <a:avLst/>
          </a:prstGeom>
          <a:solidFill>
            <a:srgbClr val="DC2626"/>
          </a:solidFill>
          <a:ln w="12700" cap="flat" cmpd="sng">
            <a:solidFill>
              <a:srgbClr val="DC262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886968" y="1655064"/>
            <a:ext cx="3054096"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300"/>
              <a:buFont typeface="Arial"/>
              <a:buNone/>
            </a:pPr>
            <a:r>
              <a:rPr lang="en-US" sz="1300" b="1" i="0" u="none" strike="noStrike" cap="none">
                <a:solidFill>
                  <a:srgbClr val="1F2A44"/>
                </a:solidFill>
                <a:latin typeface="Arial"/>
                <a:ea typeface="Arial"/>
                <a:cs typeface="Arial"/>
                <a:sym typeface="Arial"/>
              </a:rPr>
              <a:t>Real-world relevance</a:t>
            </a:r>
            <a:endParaRPr sz="1300" b="0" i="0" u="none" strike="noStrike" cap="none">
              <a:solidFill>
                <a:schemeClr val="dk1"/>
              </a:solidFill>
              <a:latin typeface="Arial"/>
              <a:ea typeface="Arial"/>
              <a:cs typeface="Arial"/>
              <a:sym typeface="Arial"/>
            </a:endParaRPr>
          </a:p>
        </p:txBody>
      </p:sp>
      <p:sp>
        <p:nvSpPr>
          <p:cNvPr id="41" name="Google Shape;41;p2"/>
          <p:cNvSpPr/>
          <p:nvPr/>
        </p:nvSpPr>
        <p:spPr>
          <a:xfrm>
            <a:off x="886968" y="1947672"/>
            <a:ext cx="3054096" cy="93268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4B5563"/>
              </a:buClr>
              <a:buSzPts val="1050"/>
              <a:buFont typeface="Arial"/>
              <a:buNone/>
            </a:pPr>
            <a:r>
              <a:rPr lang="en-US" sz="1050" b="0" i="0" u="none" strike="noStrike" cap="none" dirty="0">
                <a:solidFill>
                  <a:srgbClr val="4B5563"/>
                </a:solidFill>
                <a:latin typeface="Arial"/>
                <a:ea typeface="Arial"/>
                <a:cs typeface="Arial"/>
                <a:sym typeface="Arial"/>
              </a:rPr>
              <a:t>Deepfakes can be used to spread misinformation, impersonate public figures, or manipulate digital media.</a:t>
            </a:r>
            <a:endParaRPr sz="1050" b="0" i="0" u="none" strike="noStrike" cap="none" dirty="0">
              <a:solidFill>
                <a:schemeClr val="dk1"/>
              </a:solidFill>
              <a:latin typeface="Arial"/>
              <a:ea typeface="Arial"/>
              <a:cs typeface="Arial"/>
              <a:sym typeface="Arial"/>
            </a:endParaRPr>
          </a:p>
        </p:txBody>
      </p:sp>
      <p:sp>
        <p:nvSpPr>
          <p:cNvPr id="42" name="Google Shape;42;p2"/>
          <p:cNvSpPr/>
          <p:nvPr/>
        </p:nvSpPr>
        <p:spPr>
          <a:xfrm>
            <a:off x="4407408" y="1508760"/>
            <a:ext cx="3383280" cy="1463040"/>
          </a:xfrm>
          <a:prstGeom prst="roundRect">
            <a:avLst>
              <a:gd name="adj" fmla="val 3750"/>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4407408" y="1508760"/>
            <a:ext cx="73152" cy="1463040"/>
          </a:xfrm>
          <a:prstGeom prst="rect">
            <a:avLst/>
          </a:prstGeom>
          <a:solidFill>
            <a:srgbClr val="2F6BFF"/>
          </a:solidFill>
          <a:ln w="12700" cap="flat" cmpd="sng">
            <a:solidFill>
              <a:srgbClr val="2F6B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4608576" y="1655064"/>
            <a:ext cx="3054096"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300"/>
              <a:buFont typeface="Arial"/>
              <a:buNone/>
            </a:pPr>
            <a:r>
              <a:rPr lang="en-US" sz="1300" b="1" i="0" u="none" strike="noStrike" cap="none">
                <a:solidFill>
                  <a:srgbClr val="1F2A44"/>
                </a:solidFill>
                <a:latin typeface="Arial"/>
                <a:ea typeface="Arial"/>
                <a:cs typeface="Arial"/>
                <a:sym typeface="Arial"/>
              </a:rPr>
              <a:t>Strong fit for CNNs</a:t>
            </a:r>
            <a:endParaRPr sz="1300" b="0" i="0" u="none" strike="noStrike" cap="none">
              <a:solidFill>
                <a:schemeClr val="dk1"/>
              </a:solidFill>
              <a:latin typeface="Arial"/>
              <a:ea typeface="Arial"/>
              <a:cs typeface="Arial"/>
              <a:sym typeface="Arial"/>
            </a:endParaRPr>
          </a:p>
        </p:txBody>
      </p:sp>
      <p:sp>
        <p:nvSpPr>
          <p:cNvPr id="45" name="Google Shape;45;p2"/>
          <p:cNvSpPr/>
          <p:nvPr/>
        </p:nvSpPr>
        <p:spPr>
          <a:xfrm>
            <a:off x="4608576" y="1947672"/>
            <a:ext cx="3054096" cy="93268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4B5563"/>
              </a:buClr>
              <a:buSzPts val="1050"/>
              <a:buFont typeface="Arial"/>
              <a:buNone/>
            </a:pPr>
            <a:r>
              <a:rPr lang="en-US" sz="1050" b="0" i="0" u="none" strike="noStrike" cap="none">
                <a:solidFill>
                  <a:srgbClr val="4B5563"/>
                </a:solidFill>
                <a:latin typeface="Arial"/>
                <a:ea typeface="Arial"/>
                <a:cs typeface="Arial"/>
                <a:sym typeface="Arial"/>
              </a:rPr>
              <a:t>The task is visual: CNNs can learn patterns and artifacts from cropped face images.</a:t>
            </a:r>
            <a:endParaRPr sz="1050" b="0" i="0" u="none" strike="noStrike" cap="none">
              <a:solidFill>
                <a:schemeClr val="dk1"/>
              </a:solidFill>
              <a:latin typeface="Arial"/>
              <a:ea typeface="Arial"/>
              <a:cs typeface="Arial"/>
              <a:sym typeface="Arial"/>
            </a:endParaRPr>
          </a:p>
        </p:txBody>
      </p:sp>
      <p:sp>
        <p:nvSpPr>
          <p:cNvPr id="46" name="Google Shape;46;p2"/>
          <p:cNvSpPr/>
          <p:nvPr/>
        </p:nvSpPr>
        <p:spPr>
          <a:xfrm>
            <a:off x="8138160" y="1508760"/>
            <a:ext cx="3383280" cy="1463040"/>
          </a:xfrm>
          <a:prstGeom prst="roundRect">
            <a:avLst>
              <a:gd name="adj" fmla="val 3750"/>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8138160" y="1508760"/>
            <a:ext cx="73152" cy="1463040"/>
          </a:xfrm>
          <a:prstGeom prst="rect">
            <a:avLst/>
          </a:prstGeom>
          <a:solidFill>
            <a:srgbClr val="0EA5A4"/>
          </a:solidFill>
          <a:ln w="12700" cap="flat" cmpd="sng">
            <a:solidFill>
              <a:srgbClr val="0EA5A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8339328" y="1655064"/>
            <a:ext cx="3054096"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300"/>
              <a:buFont typeface="Arial"/>
              <a:buNone/>
            </a:pPr>
            <a:r>
              <a:rPr lang="en-US" sz="1300" b="1" i="0" u="none" strike="noStrike" cap="none">
                <a:solidFill>
                  <a:srgbClr val="1F2A44"/>
                </a:solidFill>
                <a:latin typeface="Arial"/>
                <a:ea typeface="Arial"/>
                <a:cs typeface="Arial"/>
                <a:sym typeface="Arial"/>
              </a:rPr>
              <a:t>End-to-end workflow</a:t>
            </a:r>
            <a:endParaRPr sz="1300" b="0" i="0" u="none" strike="noStrike" cap="none">
              <a:solidFill>
                <a:schemeClr val="dk1"/>
              </a:solidFill>
              <a:latin typeface="Arial"/>
              <a:ea typeface="Arial"/>
              <a:cs typeface="Arial"/>
              <a:sym typeface="Arial"/>
            </a:endParaRPr>
          </a:p>
        </p:txBody>
      </p:sp>
      <p:sp>
        <p:nvSpPr>
          <p:cNvPr id="49" name="Google Shape;49;p2"/>
          <p:cNvSpPr/>
          <p:nvPr/>
        </p:nvSpPr>
        <p:spPr>
          <a:xfrm>
            <a:off x="8339328" y="1947672"/>
            <a:ext cx="3054096" cy="93268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4B5563"/>
              </a:buClr>
              <a:buSzPts val="1050"/>
              <a:buFont typeface="Arial"/>
              <a:buNone/>
            </a:pPr>
            <a:r>
              <a:rPr lang="en-US" sz="1050" b="0" i="0" u="none" strike="noStrike" cap="none">
                <a:solidFill>
                  <a:srgbClr val="4B5563"/>
                </a:solidFill>
                <a:latin typeface="Arial"/>
                <a:ea typeface="Arial"/>
                <a:cs typeface="Arial"/>
                <a:sym typeface="Arial"/>
              </a:rPr>
              <a:t>The project includes data processing, PyTorch DataLoaders, model training, and evaluation.</a:t>
            </a:r>
            <a:endParaRPr sz="1050" b="0" i="0" u="none" strike="noStrike" cap="none">
              <a:solidFill>
                <a:schemeClr val="dk1"/>
              </a:solidFill>
              <a:latin typeface="Arial"/>
              <a:ea typeface="Arial"/>
              <a:cs typeface="Arial"/>
              <a:sym typeface="Arial"/>
            </a:endParaRPr>
          </a:p>
        </p:txBody>
      </p:sp>
      <p:sp>
        <p:nvSpPr>
          <p:cNvPr id="50" name="Google Shape;50;p2"/>
          <p:cNvSpPr/>
          <p:nvPr/>
        </p:nvSpPr>
        <p:spPr>
          <a:xfrm>
            <a:off x="1005840" y="3703320"/>
            <a:ext cx="9966960" cy="1325880"/>
          </a:xfrm>
          <a:prstGeom prst="rect">
            <a:avLst/>
          </a:prstGeom>
          <a:noFill/>
          <a:ln>
            <a:noFill/>
          </a:ln>
        </p:spPr>
        <p:txBody>
          <a:bodyPr spcFirstLastPara="1" wrap="square" lIns="625" tIns="625" rIns="625" bIns="625" anchor="ctr" anchorCtr="0">
            <a:normAutofit/>
          </a:bodyPr>
          <a:lstStyle/>
          <a:p>
            <a:pPr marL="0" marR="0" lvl="0" indent="0" algn="l" rtl="0">
              <a:spcBef>
                <a:spcPts val="0"/>
              </a:spcBef>
              <a:spcAft>
                <a:spcPts val="0"/>
              </a:spcAft>
              <a:buNone/>
            </a:pPr>
            <a:r>
              <a:rPr lang="en-US" sz="1800" b="0" i="0" u="none" strike="noStrike" cap="none" dirty="0">
                <a:solidFill>
                  <a:srgbClr val="111827"/>
                </a:solidFill>
                <a:latin typeface="Arial"/>
                <a:ea typeface="Arial"/>
                <a:cs typeface="Arial"/>
                <a:sym typeface="Arial"/>
              </a:rPr>
              <a:t>Goal: classify cropped face images as real or fake.</a:t>
            </a: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rgbClr val="111827"/>
                </a:solidFill>
                <a:latin typeface="Arial"/>
                <a:ea typeface="Arial"/>
                <a:cs typeface="Arial"/>
                <a:sym typeface="Arial"/>
              </a:rPr>
              <a:t>The project demonstrates both data preparation and model development.</a:t>
            </a: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rgbClr val="111827"/>
                </a:solidFill>
                <a:latin typeface="Arial"/>
                <a:ea typeface="Arial"/>
                <a:cs typeface="Arial"/>
                <a:sym typeface="Arial"/>
              </a:rPr>
              <a:t>The model could eventually support video-level deepfake detection.</a:t>
            </a:r>
            <a:endParaRPr sz="1800" dirty="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5"/>
        <p:cNvGrpSpPr/>
        <p:nvPr/>
      </p:nvGrpSpPr>
      <p:grpSpPr>
        <a:xfrm>
          <a:off x="0" y="0"/>
          <a:ext cx="0" cy="0"/>
          <a:chOff x="0" y="0"/>
          <a:chExt cx="0" cy="0"/>
        </a:xfrm>
      </p:grpSpPr>
      <p:sp>
        <p:nvSpPr>
          <p:cNvPr id="56" name="Google Shape;56;p3"/>
          <p:cNvSpPr/>
          <p:nvPr/>
        </p:nvSpPr>
        <p:spPr>
          <a:xfrm>
            <a:off x="0" y="0"/>
            <a:ext cx="12191695" cy="164592"/>
          </a:xfrm>
          <a:prstGeom prst="rect">
            <a:avLst/>
          </a:prstGeom>
          <a:solidFill>
            <a:srgbClr val="2F6BFF"/>
          </a:solidFill>
          <a:ln w="12700" cap="flat" cmpd="sng">
            <a:solidFill>
              <a:srgbClr val="2F6B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0" y="6547104"/>
            <a:ext cx="12191695" cy="310896"/>
          </a:xfrm>
          <a:prstGeom prst="rect">
            <a:avLst/>
          </a:prstGeom>
          <a:solidFill>
            <a:srgbClr val="1F2A44"/>
          </a:solidFill>
          <a:ln w="12700" cap="flat" cmpd="sng">
            <a:solidFill>
              <a:srgbClr val="1F2A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502920" y="411480"/>
            <a:ext cx="1088136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2700"/>
              <a:buFont typeface="Play"/>
              <a:buNone/>
            </a:pPr>
            <a:r>
              <a:rPr lang="en-US" sz="2700" b="1">
                <a:solidFill>
                  <a:srgbClr val="1F2A44"/>
                </a:solidFill>
                <a:latin typeface="Play"/>
                <a:ea typeface="Play"/>
                <a:cs typeface="Play"/>
                <a:sym typeface="Play"/>
              </a:rPr>
              <a:t>Background: What Is Deepfake Detection?</a:t>
            </a:r>
            <a:endParaRPr sz="2700">
              <a:solidFill>
                <a:schemeClr val="dk1"/>
              </a:solidFill>
              <a:latin typeface="Arial"/>
              <a:ea typeface="Arial"/>
              <a:cs typeface="Arial"/>
              <a:sym typeface="Arial"/>
            </a:endParaRPr>
          </a:p>
        </p:txBody>
      </p:sp>
      <p:sp>
        <p:nvSpPr>
          <p:cNvPr id="59" name="Google Shape;59;p3"/>
          <p:cNvSpPr/>
          <p:nvPr/>
        </p:nvSpPr>
        <p:spPr>
          <a:xfrm>
            <a:off x="530352" y="941832"/>
            <a:ext cx="106984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100"/>
              <a:buFont typeface="Arial"/>
              <a:buNone/>
            </a:pPr>
            <a:r>
              <a:rPr lang="en-US" sz="1100">
                <a:solidFill>
                  <a:srgbClr val="6B7280"/>
                </a:solidFill>
                <a:latin typeface="Arial"/>
                <a:ea typeface="Arial"/>
                <a:cs typeface="Arial"/>
                <a:sym typeface="Arial"/>
              </a:rPr>
              <a:t>Deepfake detection attempts to identify whether media has been synthetically manipulated.</a:t>
            </a:r>
            <a:endParaRPr sz="1100">
              <a:solidFill>
                <a:schemeClr val="dk1"/>
              </a:solidFill>
              <a:latin typeface="Arial"/>
              <a:ea typeface="Arial"/>
              <a:cs typeface="Arial"/>
              <a:sym typeface="Arial"/>
            </a:endParaRPr>
          </a:p>
        </p:txBody>
      </p:sp>
      <p:sp>
        <p:nvSpPr>
          <p:cNvPr id="60" name="Google Shape;60;p3"/>
          <p:cNvSpPr/>
          <p:nvPr/>
        </p:nvSpPr>
        <p:spPr>
          <a:xfrm>
            <a:off x="502920" y="6620256"/>
            <a:ext cx="292608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5E7EB"/>
              </a:buClr>
              <a:buSzPts val="750"/>
              <a:buFont typeface="Arial"/>
              <a:buNone/>
            </a:pPr>
            <a:r>
              <a:rPr lang="en-US" sz="750">
                <a:solidFill>
                  <a:srgbClr val="E5E7EB"/>
                </a:solidFill>
                <a:latin typeface="Arial"/>
                <a:ea typeface="Arial"/>
                <a:cs typeface="Arial"/>
                <a:sym typeface="Arial"/>
              </a:rPr>
              <a:t>DATA 621 Final Project | 3</a:t>
            </a:r>
            <a:endParaRPr sz="750">
              <a:solidFill>
                <a:schemeClr val="dk1"/>
              </a:solidFill>
              <a:latin typeface="Arial"/>
              <a:ea typeface="Arial"/>
              <a:cs typeface="Arial"/>
              <a:sym typeface="Arial"/>
            </a:endParaRPr>
          </a:p>
        </p:txBody>
      </p:sp>
      <p:sp>
        <p:nvSpPr>
          <p:cNvPr id="61" name="Google Shape;61;p3"/>
          <p:cNvSpPr/>
          <p:nvPr/>
        </p:nvSpPr>
        <p:spPr>
          <a:xfrm>
            <a:off x="731520" y="1417320"/>
            <a:ext cx="5760720" cy="2834640"/>
          </a:xfrm>
          <a:prstGeom prst="rect">
            <a:avLst/>
          </a:prstGeom>
          <a:noFill/>
          <a:ln>
            <a:noFill/>
          </a:ln>
        </p:spPr>
        <p:txBody>
          <a:bodyPr spcFirstLastPara="1" wrap="square" lIns="625" tIns="625" rIns="625" bIns="625" anchor="ctr" anchorCtr="0">
            <a:normAutofit/>
          </a:bodyPr>
          <a:lstStyle/>
          <a:p>
            <a:pPr marL="457200" marR="0" lvl="0" indent="-330200" algn="l" rtl="0">
              <a:spcBef>
                <a:spcPts val="0"/>
              </a:spcBef>
              <a:spcAft>
                <a:spcPts val="0"/>
              </a:spcAft>
              <a:buClr>
                <a:srgbClr val="111827"/>
              </a:buClr>
              <a:buSzPts val="1600"/>
              <a:buFont typeface="Arial"/>
              <a:buChar char="●"/>
            </a:pPr>
            <a:r>
              <a:rPr lang="en-US" sz="1600" dirty="0">
                <a:solidFill>
                  <a:srgbClr val="111827"/>
                </a:solidFill>
                <a:latin typeface="Arial"/>
                <a:ea typeface="Arial"/>
                <a:cs typeface="Arial"/>
                <a:sym typeface="Arial"/>
              </a:rPr>
              <a:t>Deepfakes are manipulated videos or images that imitate real people.</a:t>
            </a:r>
            <a:endParaRPr sz="1600" dirty="0">
              <a:solidFill>
                <a:schemeClr val="dk1"/>
              </a:solidFill>
              <a:latin typeface="Arial"/>
              <a:ea typeface="Arial"/>
              <a:cs typeface="Arial"/>
              <a:sym typeface="Arial"/>
            </a:endParaRPr>
          </a:p>
          <a:p>
            <a:pPr marL="457200" marR="0" lvl="0" indent="-330200" algn="l" rtl="0">
              <a:spcBef>
                <a:spcPts val="0"/>
              </a:spcBef>
              <a:spcAft>
                <a:spcPts val="0"/>
              </a:spcAft>
              <a:buClr>
                <a:srgbClr val="111827"/>
              </a:buClr>
              <a:buSzPts val="1600"/>
              <a:buFont typeface="Arial"/>
              <a:buChar char="●"/>
            </a:pPr>
            <a:r>
              <a:rPr lang="en-US" sz="1600" dirty="0">
                <a:solidFill>
                  <a:srgbClr val="111827"/>
                </a:solidFill>
                <a:latin typeface="Arial"/>
                <a:ea typeface="Arial"/>
                <a:cs typeface="Arial"/>
                <a:sym typeface="Arial"/>
              </a:rPr>
              <a:t>Visual clues can be subtle, especially around facial features, lighting, texture, and motion.</a:t>
            </a:r>
            <a:endParaRPr sz="1600" dirty="0">
              <a:solidFill>
                <a:schemeClr val="dk1"/>
              </a:solidFill>
              <a:latin typeface="Arial"/>
              <a:ea typeface="Arial"/>
              <a:cs typeface="Arial"/>
              <a:sym typeface="Arial"/>
            </a:endParaRPr>
          </a:p>
          <a:p>
            <a:pPr marL="457200" marR="0" lvl="0" indent="-330200" algn="l" rtl="0">
              <a:spcBef>
                <a:spcPts val="0"/>
              </a:spcBef>
              <a:spcAft>
                <a:spcPts val="0"/>
              </a:spcAft>
              <a:buClr>
                <a:srgbClr val="111827"/>
              </a:buClr>
              <a:buSzPts val="1600"/>
              <a:buFont typeface="Arial"/>
              <a:buChar char="●"/>
            </a:pPr>
            <a:r>
              <a:rPr lang="en-US" sz="1600" dirty="0">
                <a:solidFill>
                  <a:srgbClr val="111827"/>
                </a:solidFill>
                <a:latin typeface="Arial"/>
                <a:ea typeface="Arial"/>
                <a:cs typeface="Arial"/>
                <a:sym typeface="Arial"/>
              </a:rPr>
              <a:t>CNNs are useful because they learn spatial patterns directly from image pixels.</a:t>
            </a:r>
            <a:endParaRPr sz="1600" dirty="0">
              <a:solidFill>
                <a:schemeClr val="dk1"/>
              </a:solidFill>
              <a:latin typeface="Arial"/>
              <a:ea typeface="Arial"/>
              <a:cs typeface="Arial"/>
              <a:sym typeface="Arial"/>
            </a:endParaRPr>
          </a:p>
          <a:p>
            <a:pPr marL="457200" marR="0" lvl="0" indent="-330200" algn="l" rtl="0">
              <a:spcBef>
                <a:spcPts val="0"/>
              </a:spcBef>
              <a:spcAft>
                <a:spcPts val="0"/>
              </a:spcAft>
              <a:buClr>
                <a:srgbClr val="111827"/>
              </a:buClr>
              <a:buSzPts val="1600"/>
              <a:buFont typeface="Arial"/>
              <a:buChar char="●"/>
            </a:pPr>
            <a:r>
              <a:rPr lang="en-US" sz="1600" dirty="0">
                <a:solidFill>
                  <a:srgbClr val="111827"/>
                </a:solidFill>
                <a:latin typeface="Arial"/>
                <a:ea typeface="Arial"/>
                <a:cs typeface="Arial"/>
                <a:sym typeface="Arial"/>
              </a:rPr>
              <a:t>This project focuses on face crops because the face region contains the most relevant evidence.</a:t>
            </a:r>
            <a:endParaRPr sz="1600" dirty="0">
              <a:solidFill>
                <a:schemeClr val="dk1"/>
              </a:solidFill>
              <a:latin typeface="Arial"/>
              <a:ea typeface="Arial"/>
              <a:cs typeface="Arial"/>
              <a:sym typeface="Arial"/>
            </a:endParaRPr>
          </a:p>
        </p:txBody>
      </p:sp>
      <p:sp>
        <p:nvSpPr>
          <p:cNvPr id="62" name="Google Shape;62;p3"/>
          <p:cNvSpPr/>
          <p:nvPr/>
        </p:nvSpPr>
        <p:spPr>
          <a:xfrm>
            <a:off x="7040880" y="1417320"/>
            <a:ext cx="4114800" cy="2834640"/>
          </a:xfrm>
          <a:prstGeom prst="roundRect">
            <a:avLst>
              <a:gd name="adj" fmla="val 2581"/>
            </a:avLst>
          </a:prstGeom>
          <a:solidFill>
            <a:srgbClr val="EEF5FF"/>
          </a:solidFill>
          <a:ln w="12700" cap="flat" cmpd="sng">
            <a:solidFill>
              <a:srgbClr val="BBD2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7406640" y="1783080"/>
            <a:ext cx="3383280"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2A44"/>
              </a:buClr>
              <a:buSzPts val="2000"/>
              <a:buFont typeface="Arial"/>
              <a:buNone/>
            </a:pPr>
            <a:r>
              <a:rPr lang="en-US" sz="2000" b="1">
                <a:solidFill>
                  <a:srgbClr val="1F2A44"/>
                </a:solidFill>
                <a:latin typeface="Arial"/>
                <a:ea typeface="Arial"/>
                <a:cs typeface="Arial"/>
                <a:sym typeface="Arial"/>
              </a:rPr>
              <a:t>Classification Task</a:t>
            </a:r>
            <a:endParaRPr sz="2000">
              <a:solidFill>
                <a:schemeClr val="dk1"/>
              </a:solidFill>
              <a:latin typeface="Arial"/>
              <a:ea typeface="Arial"/>
              <a:cs typeface="Arial"/>
              <a:sym typeface="Arial"/>
            </a:endParaRPr>
          </a:p>
        </p:txBody>
      </p:sp>
      <p:sp>
        <p:nvSpPr>
          <p:cNvPr id="64" name="Google Shape;64;p3"/>
          <p:cNvSpPr/>
          <p:nvPr/>
        </p:nvSpPr>
        <p:spPr>
          <a:xfrm>
            <a:off x="7360920" y="2423160"/>
            <a:ext cx="1417320" cy="6858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F6BFF"/>
              </a:buClr>
              <a:buSzPts val="1500"/>
              <a:buFont typeface="Arial"/>
              <a:buNone/>
            </a:pPr>
            <a:r>
              <a:rPr lang="en-US" sz="1500" b="1">
                <a:solidFill>
                  <a:srgbClr val="2F6BFF"/>
                </a:solidFill>
                <a:latin typeface="Arial"/>
                <a:ea typeface="Arial"/>
                <a:cs typeface="Arial"/>
                <a:sym typeface="Arial"/>
              </a:rPr>
              <a:t>Input</a:t>
            </a:r>
            <a:endParaRPr sz="1500">
              <a:solidFill>
                <a:schemeClr val="dk1"/>
              </a:solidFill>
              <a:latin typeface="Arial"/>
              <a:ea typeface="Arial"/>
              <a:cs typeface="Arial"/>
              <a:sym typeface="Arial"/>
            </a:endParaRPr>
          </a:p>
          <a:p>
            <a:pPr marL="0" marR="0" lvl="0" indent="0" algn="ctr" rtl="0">
              <a:spcBef>
                <a:spcPts val="0"/>
              </a:spcBef>
              <a:spcAft>
                <a:spcPts val="0"/>
              </a:spcAft>
              <a:buClr>
                <a:srgbClr val="2F6BFF"/>
              </a:buClr>
              <a:buSzPts val="1500"/>
              <a:buFont typeface="Arial"/>
              <a:buNone/>
            </a:pPr>
            <a:r>
              <a:rPr lang="en-US" sz="1500" b="1">
                <a:solidFill>
                  <a:srgbClr val="2F6BFF"/>
                </a:solidFill>
                <a:latin typeface="Arial"/>
                <a:ea typeface="Arial"/>
                <a:cs typeface="Arial"/>
                <a:sym typeface="Arial"/>
              </a:rPr>
              <a:t>224×224 face image</a:t>
            </a:r>
            <a:endParaRPr sz="1500">
              <a:solidFill>
                <a:schemeClr val="dk1"/>
              </a:solidFill>
              <a:latin typeface="Arial"/>
              <a:ea typeface="Arial"/>
              <a:cs typeface="Arial"/>
              <a:sym typeface="Arial"/>
            </a:endParaRPr>
          </a:p>
        </p:txBody>
      </p:sp>
      <p:sp>
        <p:nvSpPr>
          <p:cNvPr id="65" name="Google Shape;65;p3"/>
          <p:cNvSpPr/>
          <p:nvPr/>
        </p:nvSpPr>
        <p:spPr>
          <a:xfrm>
            <a:off x="8823960" y="2514600"/>
            <a:ext cx="777240" cy="411480"/>
          </a:xfrm>
          <a:prstGeom prst="rightArrow">
            <a:avLst>
              <a:gd name="adj1" fmla="val 50000"/>
              <a:gd name="adj2" fmla="val 50000"/>
            </a:avLst>
          </a:prstGeom>
          <a:solidFill>
            <a:srgbClr val="39B8FF"/>
          </a:solidFill>
          <a:ln w="12700" cap="flat" cmpd="sng">
            <a:solidFill>
              <a:srgbClr val="39B8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9646920" y="2423160"/>
            <a:ext cx="1143000" cy="6858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EA5A4"/>
              </a:buClr>
              <a:buSzPts val="1500"/>
              <a:buFont typeface="Arial"/>
              <a:buNone/>
            </a:pPr>
            <a:r>
              <a:rPr lang="en-US" sz="1500" b="1">
                <a:solidFill>
                  <a:srgbClr val="0EA5A4"/>
                </a:solidFill>
                <a:latin typeface="Arial"/>
                <a:ea typeface="Arial"/>
                <a:cs typeface="Arial"/>
                <a:sym typeface="Arial"/>
              </a:rPr>
              <a:t>Output</a:t>
            </a:r>
            <a:endParaRPr sz="1500">
              <a:solidFill>
                <a:schemeClr val="dk1"/>
              </a:solidFill>
              <a:latin typeface="Arial"/>
              <a:ea typeface="Arial"/>
              <a:cs typeface="Arial"/>
              <a:sym typeface="Arial"/>
            </a:endParaRPr>
          </a:p>
          <a:p>
            <a:pPr marL="0" marR="0" lvl="0" indent="0" algn="ctr" rtl="0">
              <a:spcBef>
                <a:spcPts val="0"/>
              </a:spcBef>
              <a:spcAft>
                <a:spcPts val="0"/>
              </a:spcAft>
              <a:buClr>
                <a:srgbClr val="0EA5A4"/>
              </a:buClr>
              <a:buSzPts val="1500"/>
              <a:buFont typeface="Arial"/>
              <a:buNone/>
            </a:pPr>
            <a:r>
              <a:rPr lang="en-US" sz="1500" b="1">
                <a:solidFill>
                  <a:srgbClr val="0EA5A4"/>
                </a:solidFill>
                <a:latin typeface="Arial"/>
                <a:ea typeface="Arial"/>
                <a:cs typeface="Arial"/>
                <a:sym typeface="Arial"/>
              </a:rPr>
              <a:t>Fake or Real</a:t>
            </a:r>
            <a:endParaRPr sz="1500">
              <a:solidFill>
                <a:schemeClr val="dk1"/>
              </a:solidFill>
              <a:latin typeface="Arial"/>
              <a:ea typeface="Arial"/>
              <a:cs typeface="Arial"/>
              <a:sym typeface="Arial"/>
            </a:endParaRPr>
          </a:p>
        </p:txBody>
      </p:sp>
      <p:sp>
        <p:nvSpPr>
          <p:cNvPr id="67" name="Google Shape;67;p3"/>
          <p:cNvSpPr/>
          <p:nvPr/>
        </p:nvSpPr>
        <p:spPr>
          <a:xfrm>
            <a:off x="7360920" y="3611880"/>
            <a:ext cx="338328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B5563"/>
              </a:buClr>
              <a:buSzPts val="1100"/>
              <a:buFont typeface="Arial"/>
              <a:buNone/>
            </a:pPr>
            <a:r>
              <a:rPr lang="en-US" sz="1100">
                <a:solidFill>
                  <a:srgbClr val="4B5563"/>
                </a:solidFill>
                <a:latin typeface="Arial"/>
                <a:ea typeface="Arial"/>
                <a:cs typeface="Arial"/>
                <a:sym typeface="Arial"/>
              </a:rPr>
              <a:t>The model learns the difference between authentic and manipulated face images through supervised training.</a:t>
            </a:r>
            <a:endParaRPr sz="11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2"/>
        <p:cNvGrpSpPr/>
        <p:nvPr/>
      </p:nvGrpSpPr>
      <p:grpSpPr>
        <a:xfrm>
          <a:off x="0" y="0"/>
          <a:ext cx="0" cy="0"/>
          <a:chOff x="0" y="0"/>
          <a:chExt cx="0" cy="0"/>
        </a:xfrm>
      </p:grpSpPr>
      <p:sp>
        <p:nvSpPr>
          <p:cNvPr id="73" name="Google Shape;73;p4"/>
          <p:cNvSpPr/>
          <p:nvPr/>
        </p:nvSpPr>
        <p:spPr>
          <a:xfrm>
            <a:off x="0" y="0"/>
            <a:ext cx="12191695" cy="164592"/>
          </a:xfrm>
          <a:prstGeom prst="rect">
            <a:avLst/>
          </a:prstGeom>
          <a:solidFill>
            <a:srgbClr val="2F6BFF"/>
          </a:solidFill>
          <a:ln w="12700" cap="flat" cmpd="sng">
            <a:solidFill>
              <a:srgbClr val="2F6B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4"/>
          <p:cNvSpPr/>
          <p:nvPr/>
        </p:nvSpPr>
        <p:spPr>
          <a:xfrm>
            <a:off x="0" y="6547104"/>
            <a:ext cx="12191695" cy="310896"/>
          </a:xfrm>
          <a:prstGeom prst="rect">
            <a:avLst/>
          </a:prstGeom>
          <a:solidFill>
            <a:srgbClr val="1F2A44"/>
          </a:solidFill>
          <a:ln w="12700" cap="flat" cmpd="sng">
            <a:solidFill>
              <a:srgbClr val="1F2A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4"/>
          <p:cNvSpPr/>
          <p:nvPr/>
        </p:nvSpPr>
        <p:spPr>
          <a:xfrm>
            <a:off x="502920" y="411480"/>
            <a:ext cx="1088136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2700"/>
              <a:buFont typeface="Play"/>
              <a:buNone/>
            </a:pPr>
            <a:r>
              <a:rPr lang="en-US" sz="2700" b="1">
                <a:solidFill>
                  <a:srgbClr val="1F2A44"/>
                </a:solidFill>
                <a:latin typeface="Play"/>
                <a:ea typeface="Play"/>
                <a:cs typeface="Play"/>
                <a:sym typeface="Play"/>
              </a:rPr>
              <a:t>Data Used and Data Description</a:t>
            </a:r>
            <a:endParaRPr sz="2700">
              <a:solidFill>
                <a:schemeClr val="dk1"/>
              </a:solidFill>
              <a:latin typeface="Arial"/>
              <a:ea typeface="Arial"/>
              <a:cs typeface="Arial"/>
              <a:sym typeface="Arial"/>
            </a:endParaRPr>
          </a:p>
        </p:txBody>
      </p:sp>
      <p:sp>
        <p:nvSpPr>
          <p:cNvPr id="76" name="Google Shape;76;p4"/>
          <p:cNvSpPr/>
          <p:nvPr/>
        </p:nvSpPr>
        <p:spPr>
          <a:xfrm>
            <a:off x="530352" y="941832"/>
            <a:ext cx="106984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100"/>
              <a:buFont typeface="Arial"/>
              <a:buNone/>
            </a:pPr>
            <a:r>
              <a:rPr lang="en-US" sz="1100">
                <a:solidFill>
                  <a:srgbClr val="6B7280"/>
                </a:solidFill>
                <a:latin typeface="Arial"/>
                <a:ea typeface="Arial"/>
                <a:cs typeface="Arial"/>
                <a:sym typeface="Arial"/>
              </a:rPr>
              <a:t>FaceForensics DFD dataset: raw videos converted into labeled face images.</a:t>
            </a:r>
            <a:endParaRPr sz="1100">
              <a:solidFill>
                <a:schemeClr val="dk1"/>
              </a:solidFill>
              <a:latin typeface="Arial"/>
              <a:ea typeface="Arial"/>
              <a:cs typeface="Arial"/>
              <a:sym typeface="Arial"/>
            </a:endParaRPr>
          </a:p>
        </p:txBody>
      </p:sp>
      <p:sp>
        <p:nvSpPr>
          <p:cNvPr id="77" name="Google Shape;77;p4"/>
          <p:cNvSpPr/>
          <p:nvPr/>
        </p:nvSpPr>
        <p:spPr>
          <a:xfrm>
            <a:off x="502920" y="6620256"/>
            <a:ext cx="292608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5E7EB"/>
              </a:buClr>
              <a:buSzPts val="750"/>
              <a:buFont typeface="Arial"/>
              <a:buNone/>
            </a:pPr>
            <a:r>
              <a:rPr lang="en-US" sz="750">
                <a:solidFill>
                  <a:srgbClr val="E5E7EB"/>
                </a:solidFill>
                <a:latin typeface="Arial"/>
                <a:ea typeface="Arial"/>
                <a:cs typeface="Arial"/>
                <a:sym typeface="Arial"/>
              </a:rPr>
              <a:t>DATA 621 Final Project | 4</a:t>
            </a:r>
            <a:endParaRPr sz="750">
              <a:solidFill>
                <a:schemeClr val="dk1"/>
              </a:solidFill>
              <a:latin typeface="Arial"/>
              <a:ea typeface="Arial"/>
              <a:cs typeface="Arial"/>
              <a:sym typeface="Arial"/>
            </a:endParaRPr>
          </a:p>
        </p:txBody>
      </p:sp>
      <p:sp>
        <p:nvSpPr>
          <p:cNvPr id="78" name="Google Shape;78;p4"/>
          <p:cNvSpPr/>
          <p:nvPr/>
        </p:nvSpPr>
        <p:spPr>
          <a:xfrm>
            <a:off x="731520" y="1234440"/>
            <a:ext cx="2651760" cy="1143000"/>
          </a:xfrm>
          <a:prstGeom prst="roundRect">
            <a:avLst>
              <a:gd name="adj" fmla="val 4800"/>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4"/>
          <p:cNvSpPr/>
          <p:nvPr/>
        </p:nvSpPr>
        <p:spPr>
          <a:xfrm>
            <a:off x="731520" y="1234440"/>
            <a:ext cx="73152" cy="1143000"/>
          </a:xfrm>
          <a:prstGeom prst="rect">
            <a:avLst/>
          </a:prstGeom>
          <a:solidFill>
            <a:srgbClr val="2F6BFF"/>
          </a:solidFill>
          <a:ln w="12700" cap="flat" cmpd="sng">
            <a:solidFill>
              <a:srgbClr val="2F6B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4"/>
          <p:cNvSpPr/>
          <p:nvPr/>
        </p:nvSpPr>
        <p:spPr>
          <a:xfrm>
            <a:off x="932688" y="1380744"/>
            <a:ext cx="2322576"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300"/>
              <a:buFont typeface="Arial"/>
              <a:buNone/>
            </a:pPr>
            <a:r>
              <a:rPr lang="en-US" sz="1300" b="1">
                <a:solidFill>
                  <a:srgbClr val="1F2A44"/>
                </a:solidFill>
                <a:latin typeface="Arial"/>
                <a:ea typeface="Arial"/>
                <a:cs typeface="Arial"/>
                <a:sym typeface="Arial"/>
              </a:rPr>
              <a:t>Raw data</a:t>
            </a:r>
            <a:endParaRPr sz="1300">
              <a:solidFill>
                <a:schemeClr val="dk1"/>
              </a:solidFill>
              <a:latin typeface="Arial"/>
              <a:ea typeface="Arial"/>
              <a:cs typeface="Arial"/>
              <a:sym typeface="Arial"/>
            </a:endParaRPr>
          </a:p>
        </p:txBody>
      </p:sp>
      <p:sp>
        <p:nvSpPr>
          <p:cNvPr id="81" name="Google Shape;81;p4"/>
          <p:cNvSpPr/>
          <p:nvPr/>
        </p:nvSpPr>
        <p:spPr>
          <a:xfrm>
            <a:off x="932688" y="1673352"/>
            <a:ext cx="2322576" cy="61264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4B5563"/>
              </a:buClr>
              <a:buSzPts val="1050"/>
              <a:buFont typeface="Arial"/>
              <a:buNone/>
            </a:pPr>
            <a:r>
              <a:rPr lang="en-US" sz="1050" dirty="0">
                <a:solidFill>
                  <a:srgbClr val="4B5563"/>
                </a:solidFill>
                <a:latin typeface="Arial"/>
                <a:ea typeface="Arial"/>
                <a:cs typeface="Arial"/>
                <a:sym typeface="Arial"/>
              </a:rPr>
              <a:t>363 real videos</a:t>
            </a:r>
            <a:endParaRPr sz="1050" dirty="0">
              <a:solidFill>
                <a:schemeClr val="dk1"/>
              </a:solidFill>
              <a:latin typeface="Arial"/>
              <a:ea typeface="Arial"/>
              <a:cs typeface="Arial"/>
              <a:sym typeface="Arial"/>
            </a:endParaRPr>
          </a:p>
          <a:p>
            <a:pPr marL="0" marR="0" lvl="0" indent="0" algn="l" rtl="0">
              <a:spcBef>
                <a:spcPts val="0"/>
              </a:spcBef>
              <a:spcAft>
                <a:spcPts val="0"/>
              </a:spcAft>
              <a:buClr>
                <a:srgbClr val="4B5563"/>
              </a:buClr>
              <a:buSzPts val="1050"/>
              <a:buFont typeface="Arial"/>
              <a:buNone/>
            </a:pPr>
            <a:r>
              <a:rPr lang="en-US" sz="1050" dirty="0">
                <a:solidFill>
                  <a:srgbClr val="4B5563"/>
                </a:solidFill>
                <a:latin typeface="Arial"/>
                <a:ea typeface="Arial"/>
                <a:cs typeface="Arial"/>
                <a:sym typeface="Arial"/>
              </a:rPr>
              <a:t>3,068 fake videos</a:t>
            </a:r>
            <a:endParaRPr sz="1050" dirty="0">
              <a:solidFill>
                <a:schemeClr val="dk1"/>
              </a:solidFill>
              <a:latin typeface="Arial"/>
              <a:ea typeface="Arial"/>
              <a:cs typeface="Arial"/>
              <a:sym typeface="Arial"/>
            </a:endParaRPr>
          </a:p>
          <a:p>
            <a:pPr marL="0" marR="0" lvl="0" indent="0" algn="l" rtl="0">
              <a:spcBef>
                <a:spcPts val="0"/>
              </a:spcBef>
              <a:spcAft>
                <a:spcPts val="0"/>
              </a:spcAft>
              <a:buClr>
                <a:srgbClr val="4B5563"/>
              </a:buClr>
              <a:buSzPts val="1050"/>
              <a:buFont typeface="Arial"/>
              <a:buNone/>
            </a:pPr>
            <a:r>
              <a:rPr lang="en-US" sz="1050" dirty="0">
                <a:solidFill>
                  <a:srgbClr val="4B5563"/>
                </a:solidFill>
                <a:latin typeface="Arial"/>
                <a:ea typeface="Arial"/>
                <a:cs typeface="Arial"/>
                <a:sym typeface="Arial"/>
              </a:rPr>
              <a:t>3,431 total videos</a:t>
            </a:r>
            <a:endParaRPr sz="1050" dirty="0">
              <a:solidFill>
                <a:schemeClr val="dk1"/>
              </a:solidFill>
              <a:latin typeface="Arial"/>
              <a:ea typeface="Arial"/>
              <a:cs typeface="Arial"/>
              <a:sym typeface="Arial"/>
            </a:endParaRPr>
          </a:p>
        </p:txBody>
      </p:sp>
      <p:sp>
        <p:nvSpPr>
          <p:cNvPr id="82" name="Google Shape;82;p4"/>
          <p:cNvSpPr/>
          <p:nvPr/>
        </p:nvSpPr>
        <p:spPr>
          <a:xfrm>
            <a:off x="3611880" y="1234440"/>
            <a:ext cx="2651760" cy="1143000"/>
          </a:xfrm>
          <a:prstGeom prst="roundRect">
            <a:avLst>
              <a:gd name="adj" fmla="val 4800"/>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4"/>
          <p:cNvSpPr/>
          <p:nvPr/>
        </p:nvSpPr>
        <p:spPr>
          <a:xfrm>
            <a:off x="3611880" y="1234440"/>
            <a:ext cx="73152" cy="1143000"/>
          </a:xfrm>
          <a:prstGeom prst="rect">
            <a:avLst/>
          </a:prstGeom>
          <a:solidFill>
            <a:srgbClr val="0EA5A4"/>
          </a:solidFill>
          <a:ln w="12700" cap="flat" cmpd="sng">
            <a:solidFill>
              <a:srgbClr val="0EA5A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4"/>
          <p:cNvSpPr/>
          <p:nvPr/>
        </p:nvSpPr>
        <p:spPr>
          <a:xfrm>
            <a:off x="3813048" y="1380744"/>
            <a:ext cx="2322576"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300"/>
              <a:buFont typeface="Arial"/>
              <a:buNone/>
            </a:pPr>
            <a:r>
              <a:rPr lang="en-US" sz="1300" b="1">
                <a:solidFill>
                  <a:srgbClr val="1F2A44"/>
                </a:solidFill>
                <a:latin typeface="Arial"/>
                <a:ea typeface="Arial"/>
                <a:cs typeface="Arial"/>
                <a:sym typeface="Arial"/>
              </a:rPr>
              <a:t>Video format</a:t>
            </a:r>
            <a:endParaRPr sz="1300">
              <a:solidFill>
                <a:schemeClr val="dk1"/>
              </a:solidFill>
              <a:latin typeface="Arial"/>
              <a:ea typeface="Arial"/>
              <a:cs typeface="Arial"/>
              <a:sym typeface="Arial"/>
            </a:endParaRPr>
          </a:p>
        </p:txBody>
      </p:sp>
      <p:sp>
        <p:nvSpPr>
          <p:cNvPr id="85" name="Google Shape;85;p4"/>
          <p:cNvSpPr/>
          <p:nvPr/>
        </p:nvSpPr>
        <p:spPr>
          <a:xfrm>
            <a:off x="3813048" y="1673352"/>
            <a:ext cx="2322576" cy="61264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Short .mp4 clips</a:t>
            </a:r>
            <a:endParaRPr sz="1050">
              <a:solidFill>
                <a:schemeClr val="dk1"/>
              </a:solidFill>
              <a:latin typeface="Arial"/>
              <a:ea typeface="Arial"/>
              <a:cs typeface="Arial"/>
              <a:sym typeface="Arial"/>
            </a:endParaRPr>
          </a:p>
          <a:p>
            <a:pPr marL="0" marR="0" lvl="0" indent="0" algn="l" rtl="0">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Sample FPS: 24</a:t>
            </a:r>
            <a:endParaRPr sz="1050">
              <a:solidFill>
                <a:schemeClr val="dk1"/>
              </a:solidFill>
              <a:latin typeface="Arial"/>
              <a:ea typeface="Arial"/>
              <a:cs typeface="Arial"/>
              <a:sym typeface="Arial"/>
            </a:endParaRPr>
          </a:p>
          <a:p>
            <a:pPr marL="0" marR="0" lvl="0" indent="0" algn="l" rtl="0">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Resolution: 1920×1080</a:t>
            </a:r>
            <a:endParaRPr sz="1050">
              <a:solidFill>
                <a:schemeClr val="dk1"/>
              </a:solidFill>
              <a:latin typeface="Arial"/>
              <a:ea typeface="Arial"/>
              <a:cs typeface="Arial"/>
              <a:sym typeface="Arial"/>
            </a:endParaRPr>
          </a:p>
        </p:txBody>
      </p:sp>
      <p:sp>
        <p:nvSpPr>
          <p:cNvPr id="86" name="Google Shape;86;p4"/>
          <p:cNvSpPr/>
          <p:nvPr/>
        </p:nvSpPr>
        <p:spPr>
          <a:xfrm>
            <a:off x="6492240" y="1234440"/>
            <a:ext cx="2651760" cy="1143000"/>
          </a:xfrm>
          <a:prstGeom prst="roundRect">
            <a:avLst>
              <a:gd name="adj" fmla="val 4800"/>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a:off x="6492240" y="1234440"/>
            <a:ext cx="73152" cy="1143000"/>
          </a:xfrm>
          <a:prstGeom prst="rect">
            <a:avLst/>
          </a:prstGeom>
          <a:solidFill>
            <a:srgbClr val="6D5DFD"/>
          </a:solidFill>
          <a:ln w="12700" cap="flat" cmpd="sng">
            <a:solidFill>
              <a:srgbClr val="6D5DF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4"/>
          <p:cNvSpPr/>
          <p:nvPr/>
        </p:nvSpPr>
        <p:spPr>
          <a:xfrm>
            <a:off x="6693408" y="1380744"/>
            <a:ext cx="2322576"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300"/>
              <a:buFont typeface="Arial"/>
              <a:buNone/>
            </a:pPr>
            <a:r>
              <a:rPr lang="en-US" sz="1300" b="1">
                <a:solidFill>
                  <a:srgbClr val="1F2A44"/>
                </a:solidFill>
                <a:latin typeface="Arial"/>
                <a:ea typeface="Arial"/>
                <a:cs typeface="Arial"/>
                <a:sym typeface="Arial"/>
              </a:rPr>
              <a:t>Final images</a:t>
            </a:r>
            <a:endParaRPr sz="1300">
              <a:solidFill>
                <a:schemeClr val="dk1"/>
              </a:solidFill>
              <a:latin typeface="Arial"/>
              <a:ea typeface="Arial"/>
              <a:cs typeface="Arial"/>
              <a:sym typeface="Arial"/>
            </a:endParaRPr>
          </a:p>
        </p:txBody>
      </p:sp>
      <p:sp>
        <p:nvSpPr>
          <p:cNvPr id="89" name="Google Shape;89;p4"/>
          <p:cNvSpPr/>
          <p:nvPr/>
        </p:nvSpPr>
        <p:spPr>
          <a:xfrm>
            <a:off x="6693408" y="1673352"/>
            <a:ext cx="2322576" cy="61264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82,052 cropped faces</a:t>
            </a:r>
            <a:endParaRPr sz="1050">
              <a:solidFill>
                <a:schemeClr val="dk1"/>
              </a:solidFill>
              <a:latin typeface="Arial"/>
              <a:ea typeface="Arial"/>
              <a:cs typeface="Arial"/>
              <a:sym typeface="Arial"/>
            </a:endParaRPr>
          </a:p>
          <a:p>
            <a:pPr marL="0" marR="0" lvl="0" indent="0" algn="l" rtl="0">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224×224 pixels</a:t>
            </a:r>
            <a:endParaRPr sz="1050">
              <a:solidFill>
                <a:schemeClr val="dk1"/>
              </a:solidFill>
              <a:latin typeface="Arial"/>
              <a:ea typeface="Arial"/>
              <a:cs typeface="Arial"/>
              <a:sym typeface="Arial"/>
            </a:endParaRPr>
          </a:p>
          <a:p>
            <a:pPr marL="0" marR="0" lvl="0" indent="0" algn="l" rtl="0">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Fake = 0, Real = 1</a:t>
            </a:r>
            <a:endParaRPr sz="1050">
              <a:solidFill>
                <a:schemeClr val="dk1"/>
              </a:solidFill>
              <a:latin typeface="Arial"/>
              <a:ea typeface="Arial"/>
              <a:cs typeface="Arial"/>
              <a:sym typeface="Arial"/>
            </a:endParaRPr>
          </a:p>
        </p:txBody>
      </p:sp>
      <p:sp>
        <p:nvSpPr>
          <p:cNvPr id="90" name="Google Shape;90;p4"/>
          <p:cNvSpPr/>
          <p:nvPr/>
        </p:nvSpPr>
        <p:spPr>
          <a:xfrm>
            <a:off x="9372600" y="1234440"/>
            <a:ext cx="2103120" cy="1143000"/>
          </a:xfrm>
          <a:prstGeom prst="roundRect">
            <a:avLst>
              <a:gd name="adj" fmla="val 4800"/>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4"/>
          <p:cNvSpPr/>
          <p:nvPr/>
        </p:nvSpPr>
        <p:spPr>
          <a:xfrm>
            <a:off x="9372600" y="1234440"/>
            <a:ext cx="73152" cy="1143000"/>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4"/>
          <p:cNvSpPr/>
          <p:nvPr/>
        </p:nvSpPr>
        <p:spPr>
          <a:xfrm>
            <a:off x="9573768" y="1380744"/>
            <a:ext cx="1773936"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300"/>
              <a:buFont typeface="Arial"/>
              <a:buNone/>
            </a:pPr>
            <a:r>
              <a:rPr lang="en-US" sz="1300" b="1">
                <a:solidFill>
                  <a:srgbClr val="1F2A44"/>
                </a:solidFill>
                <a:latin typeface="Arial"/>
                <a:ea typeface="Arial"/>
                <a:cs typeface="Arial"/>
                <a:sym typeface="Arial"/>
              </a:rPr>
              <a:t>Splits</a:t>
            </a:r>
            <a:endParaRPr sz="1300">
              <a:solidFill>
                <a:schemeClr val="dk1"/>
              </a:solidFill>
              <a:latin typeface="Arial"/>
              <a:ea typeface="Arial"/>
              <a:cs typeface="Arial"/>
              <a:sym typeface="Arial"/>
            </a:endParaRPr>
          </a:p>
        </p:txBody>
      </p:sp>
      <p:sp>
        <p:nvSpPr>
          <p:cNvPr id="93" name="Google Shape;93;p4"/>
          <p:cNvSpPr/>
          <p:nvPr/>
        </p:nvSpPr>
        <p:spPr>
          <a:xfrm>
            <a:off x="9573768" y="1673352"/>
            <a:ext cx="1773936" cy="61264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Train: 70%</a:t>
            </a:r>
            <a:endParaRPr sz="1050">
              <a:solidFill>
                <a:schemeClr val="dk1"/>
              </a:solidFill>
              <a:latin typeface="Arial"/>
              <a:ea typeface="Arial"/>
              <a:cs typeface="Arial"/>
              <a:sym typeface="Arial"/>
            </a:endParaRPr>
          </a:p>
          <a:p>
            <a:pPr marL="0" marR="0" lvl="0" indent="0" algn="l" rtl="0">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Validation: 15%</a:t>
            </a:r>
            <a:endParaRPr sz="1050">
              <a:solidFill>
                <a:schemeClr val="dk1"/>
              </a:solidFill>
              <a:latin typeface="Arial"/>
              <a:ea typeface="Arial"/>
              <a:cs typeface="Arial"/>
              <a:sym typeface="Arial"/>
            </a:endParaRPr>
          </a:p>
          <a:p>
            <a:pPr marL="0" marR="0" lvl="0" indent="0" algn="l" rtl="0">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Test: 15%</a:t>
            </a:r>
            <a:endParaRPr sz="1050">
              <a:solidFill>
                <a:schemeClr val="dk1"/>
              </a:solidFill>
              <a:latin typeface="Arial"/>
              <a:ea typeface="Arial"/>
              <a:cs typeface="Arial"/>
              <a:sym typeface="Arial"/>
            </a:endParaRPr>
          </a:p>
        </p:txBody>
      </p:sp>
      <p:pic>
        <p:nvPicPr>
          <p:cNvPr id="94" name="Google Shape;94;p4" title="sample_fake_faces.png"/>
          <p:cNvPicPr preferRelativeResize="0"/>
          <p:nvPr/>
        </p:nvPicPr>
        <p:blipFill>
          <a:blip r:embed="rId3">
            <a:alphaModFix/>
          </a:blip>
          <a:stretch>
            <a:fillRect/>
          </a:stretch>
        </p:blipFill>
        <p:spPr>
          <a:xfrm>
            <a:off x="502925" y="2575737"/>
            <a:ext cx="11323290" cy="1769264"/>
          </a:xfrm>
          <a:prstGeom prst="rect">
            <a:avLst/>
          </a:prstGeom>
          <a:noFill/>
          <a:ln>
            <a:noFill/>
          </a:ln>
        </p:spPr>
      </p:pic>
      <p:pic>
        <p:nvPicPr>
          <p:cNvPr id="95" name="Google Shape;95;p4" title="sample_real_faces.png"/>
          <p:cNvPicPr preferRelativeResize="0"/>
          <p:nvPr/>
        </p:nvPicPr>
        <p:blipFill>
          <a:blip r:embed="rId4">
            <a:alphaModFix/>
          </a:blip>
          <a:stretch>
            <a:fillRect/>
          </a:stretch>
        </p:blipFill>
        <p:spPr>
          <a:xfrm>
            <a:off x="502925" y="4490175"/>
            <a:ext cx="11309962" cy="176718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0"/>
        <p:cNvGrpSpPr/>
        <p:nvPr/>
      </p:nvGrpSpPr>
      <p:grpSpPr>
        <a:xfrm>
          <a:off x="0" y="0"/>
          <a:ext cx="0" cy="0"/>
          <a:chOff x="0" y="0"/>
          <a:chExt cx="0" cy="0"/>
        </a:xfrm>
      </p:grpSpPr>
      <p:sp>
        <p:nvSpPr>
          <p:cNvPr id="101" name="Google Shape;101;p5"/>
          <p:cNvSpPr/>
          <p:nvPr/>
        </p:nvSpPr>
        <p:spPr>
          <a:xfrm>
            <a:off x="0" y="0"/>
            <a:ext cx="12191695" cy="164592"/>
          </a:xfrm>
          <a:prstGeom prst="rect">
            <a:avLst/>
          </a:prstGeom>
          <a:solidFill>
            <a:srgbClr val="2F6BFF"/>
          </a:solidFill>
          <a:ln w="12700" cap="flat" cmpd="sng">
            <a:solidFill>
              <a:srgbClr val="2F6B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5"/>
          <p:cNvSpPr/>
          <p:nvPr/>
        </p:nvSpPr>
        <p:spPr>
          <a:xfrm>
            <a:off x="0" y="6547104"/>
            <a:ext cx="12191695" cy="310896"/>
          </a:xfrm>
          <a:prstGeom prst="rect">
            <a:avLst/>
          </a:prstGeom>
          <a:solidFill>
            <a:srgbClr val="1F2A44"/>
          </a:solidFill>
          <a:ln w="12700" cap="flat" cmpd="sng">
            <a:solidFill>
              <a:srgbClr val="1F2A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5"/>
          <p:cNvSpPr/>
          <p:nvPr/>
        </p:nvSpPr>
        <p:spPr>
          <a:xfrm>
            <a:off x="502920" y="411480"/>
            <a:ext cx="1088136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2700"/>
              <a:buFont typeface="Play"/>
              <a:buNone/>
            </a:pPr>
            <a:r>
              <a:rPr lang="en-US" sz="2700" b="1">
                <a:solidFill>
                  <a:srgbClr val="1F2A44"/>
                </a:solidFill>
                <a:latin typeface="Play"/>
                <a:ea typeface="Play"/>
                <a:cs typeface="Play"/>
                <a:sym typeface="Play"/>
              </a:rPr>
              <a:t>Data Pipeline and Preprocessing</a:t>
            </a:r>
            <a:endParaRPr sz="2700">
              <a:solidFill>
                <a:schemeClr val="dk1"/>
              </a:solidFill>
              <a:latin typeface="Arial"/>
              <a:ea typeface="Arial"/>
              <a:cs typeface="Arial"/>
              <a:sym typeface="Arial"/>
            </a:endParaRPr>
          </a:p>
        </p:txBody>
      </p:sp>
      <p:sp>
        <p:nvSpPr>
          <p:cNvPr id="104" name="Google Shape;104;p5"/>
          <p:cNvSpPr/>
          <p:nvPr/>
        </p:nvSpPr>
        <p:spPr>
          <a:xfrm>
            <a:off x="530352" y="941832"/>
            <a:ext cx="106984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100"/>
              <a:buFont typeface="Arial"/>
              <a:buNone/>
            </a:pPr>
            <a:r>
              <a:rPr lang="en-US" sz="1100">
                <a:solidFill>
                  <a:srgbClr val="6B7280"/>
                </a:solidFill>
                <a:latin typeface="Arial"/>
                <a:ea typeface="Arial"/>
                <a:cs typeface="Arial"/>
                <a:sym typeface="Arial"/>
              </a:rPr>
              <a:t>The project converts video data into model-ready PyTorch image batches.</a:t>
            </a:r>
            <a:endParaRPr sz="1100">
              <a:solidFill>
                <a:schemeClr val="dk1"/>
              </a:solidFill>
              <a:latin typeface="Arial"/>
              <a:ea typeface="Arial"/>
              <a:cs typeface="Arial"/>
              <a:sym typeface="Arial"/>
            </a:endParaRPr>
          </a:p>
        </p:txBody>
      </p:sp>
      <p:sp>
        <p:nvSpPr>
          <p:cNvPr id="105" name="Google Shape;105;p5"/>
          <p:cNvSpPr/>
          <p:nvPr/>
        </p:nvSpPr>
        <p:spPr>
          <a:xfrm>
            <a:off x="502920" y="6620256"/>
            <a:ext cx="292608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5E7EB"/>
              </a:buClr>
              <a:buSzPts val="750"/>
              <a:buFont typeface="Arial"/>
              <a:buNone/>
            </a:pPr>
            <a:r>
              <a:rPr lang="en-US" sz="750">
                <a:solidFill>
                  <a:srgbClr val="E5E7EB"/>
                </a:solidFill>
                <a:latin typeface="Arial"/>
                <a:ea typeface="Arial"/>
                <a:cs typeface="Arial"/>
                <a:sym typeface="Arial"/>
              </a:rPr>
              <a:t>DATA 621 Final Project | 5</a:t>
            </a:r>
            <a:endParaRPr sz="750">
              <a:solidFill>
                <a:schemeClr val="dk1"/>
              </a:solidFill>
              <a:latin typeface="Arial"/>
              <a:ea typeface="Arial"/>
              <a:cs typeface="Arial"/>
              <a:sym typeface="Arial"/>
            </a:endParaRPr>
          </a:p>
        </p:txBody>
      </p:sp>
      <p:sp>
        <p:nvSpPr>
          <p:cNvPr id="106" name="Google Shape;106;p5"/>
          <p:cNvSpPr/>
          <p:nvPr/>
        </p:nvSpPr>
        <p:spPr>
          <a:xfrm>
            <a:off x="502920" y="1417320"/>
            <a:ext cx="2057400" cy="1234440"/>
          </a:xfrm>
          <a:prstGeom prst="roundRect">
            <a:avLst>
              <a:gd name="adj" fmla="val 4444"/>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5"/>
          <p:cNvSpPr/>
          <p:nvPr/>
        </p:nvSpPr>
        <p:spPr>
          <a:xfrm>
            <a:off x="502920" y="1417320"/>
            <a:ext cx="73152" cy="1234440"/>
          </a:xfrm>
          <a:prstGeom prst="rect">
            <a:avLst/>
          </a:prstGeom>
          <a:solidFill>
            <a:srgbClr val="2F6BFF"/>
          </a:solidFill>
          <a:ln w="12700" cap="flat" cmpd="sng">
            <a:solidFill>
              <a:srgbClr val="2F6B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5"/>
          <p:cNvSpPr/>
          <p:nvPr/>
        </p:nvSpPr>
        <p:spPr>
          <a:xfrm>
            <a:off x="704088" y="1563624"/>
            <a:ext cx="1728216"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300"/>
              <a:buFont typeface="Arial"/>
              <a:buNone/>
            </a:pPr>
            <a:r>
              <a:rPr lang="en-US" sz="1300" b="1">
                <a:solidFill>
                  <a:srgbClr val="1F2A44"/>
                </a:solidFill>
                <a:latin typeface="Arial"/>
                <a:ea typeface="Arial"/>
                <a:cs typeface="Arial"/>
                <a:sym typeface="Arial"/>
              </a:rPr>
              <a:t>Raw Videos</a:t>
            </a:r>
            <a:endParaRPr sz="1300">
              <a:solidFill>
                <a:schemeClr val="dk1"/>
              </a:solidFill>
              <a:latin typeface="Arial"/>
              <a:ea typeface="Arial"/>
              <a:cs typeface="Arial"/>
              <a:sym typeface="Arial"/>
            </a:endParaRPr>
          </a:p>
        </p:txBody>
      </p:sp>
      <p:sp>
        <p:nvSpPr>
          <p:cNvPr id="109" name="Google Shape;109;p5"/>
          <p:cNvSpPr/>
          <p:nvPr/>
        </p:nvSpPr>
        <p:spPr>
          <a:xfrm>
            <a:off x="704088" y="1856232"/>
            <a:ext cx="1728216" cy="70408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Original and manipulated .mp4 files</a:t>
            </a:r>
            <a:endParaRPr sz="1050">
              <a:solidFill>
                <a:schemeClr val="dk1"/>
              </a:solidFill>
              <a:latin typeface="Arial"/>
              <a:ea typeface="Arial"/>
              <a:cs typeface="Arial"/>
              <a:sym typeface="Arial"/>
            </a:endParaRPr>
          </a:p>
        </p:txBody>
      </p:sp>
      <p:sp>
        <p:nvSpPr>
          <p:cNvPr id="110" name="Google Shape;110;p5"/>
          <p:cNvSpPr/>
          <p:nvPr/>
        </p:nvSpPr>
        <p:spPr>
          <a:xfrm>
            <a:off x="2560320" y="1874520"/>
            <a:ext cx="438912" cy="329184"/>
          </a:xfrm>
          <a:prstGeom prst="rightArrow">
            <a:avLst>
              <a:gd name="adj1" fmla="val 50000"/>
              <a:gd name="adj2" fmla="val 50000"/>
            </a:avLst>
          </a:prstGeom>
          <a:solidFill>
            <a:srgbClr val="9CA3AF"/>
          </a:solidFill>
          <a:ln w="12700" cap="flat" cmpd="sng">
            <a:solidFill>
              <a:srgbClr val="9CA3A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5"/>
          <p:cNvSpPr/>
          <p:nvPr/>
        </p:nvSpPr>
        <p:spPr>
          <a:xfrm>
            <a:off x="2834640" y="1417320"/>
            <a:ext cx="2057400" cy="1234440"/>
          </a:xfrm>
          <a:prstGeom prst="roundRect">
            <a:avLst>
              <a:gd name="adj" fmla="val 4444"/>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2834640" y="1417320"/>
            <a:ext cx="73152" cy="1234440"/>
          </a:xfrm>
          <a:prstGeom prst="rect">
            <a:avLst/>
          </a:prstGeom>
          <a:solidFill>
            <a:srgbClr val="0EA5A4"/>
          </a:solidFill>
          <a:ln w="12700" cap="flat" cmpd="sng">
            <a:solidFill>
              <a:srgbClr val="0EA5A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5"/>
          <p:cNvSpPr/>
          <p:nvPr/>
        </p:nvSpPr>
        <p:spPr>
          <a:xfrm>
            <a:off x="3035808" y="1563624"/>
            <a:ext cx="1728216"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300"/>
              <a:buFont typeface="Arial"/>
              <a:buNone/>
            </a:pPr>
            <a:r>
              <a:rPr lang="en-US" sz="1300" b="1">
                <a:solidFill>
                  <a:srgbClr val="1F2A44"/>
                </a:solidFill>
                <a:latin typeface="Arial"/>
                <a:ea typeface="Arial"/>
                <a:cs typeface="Arial"/>
                <a:sym typeface="Arial"/>
              </a:rPr>
              <a:t>Frame Extraction</a:t>
            </a:r>
            <a:endParaRPr sz="1300">
              <a:solidFill>
                <a:schemeClr val="dk1"/>
              </a:solidFill>
              <a:latin typeface="Arial"/>
              <a:ea typeface="Arial"/>
              <a:cs typeface="Arial"/>
              <a:sym typeface="Arial"/>
            </a:endParaRPr>
          </a:p>
        </p:txBody>
      </p:sp>
      <p:sp>
        <p:nvSpPr>
          <p:cNvPr id="114" name="Google Shape;114;p5"/>
          <p:cNvSpPr/>
          <p:nvPr/>
        </p:nvSpPr>
        <p:spPr>
          <a:xfrm>
            <a:off x="3035808" y="1856232"/>
            <a:ext cx="1728216" cy="70408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About 1 frame per second</a:t>
            </a:r>
            <a:endParaRPr sz="1050">
              <a:solidFill>
                <a:schemeClr val="dk1"/>
              </a:solidFill>
              <a:latin typeface="Arial"/>
              <a:ea typeface="Arial"/>
              <a:cs typeface="Arial"/>
              <a:sym typeface="Arial"/>
            </a:endParaRPr>
          </a:p>
        </p:txBody>
      </p:sp>
      <p:sp>
        <p:nvSpPr>
          <p:cNvPr id="115" name="Google Shape;115;p5"/>
          <p:cNvSpPr/>
          <p:nvPr/>
        </p:nvSpPr>
        <p:spPr>
          <a:xfrm>
            <a:off x="4892040" y="1874520"/>
            <a:ext cx="438912" cy="329184"/>
          </a:xfrm>
          <a:prstGeom prst="rightArrow">
            <a:avLst>
              <a:gd name="adj1" fmla="val 50000"/>
              <a:gd name="adj2" fmla="val 50000"/>
            </a:avLst>
          </a:prstGeom>
          <a:solidFill>
            <a:srgbClr val="9CA3AF"/>
          </a:solidFill>
          <a:ln w="12700" cap="flat" cmpd="sng">
            <a:solidFill>
              <a:srgbClr val="9CA3A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5"/>
          <p:cNvSpPr/>
          <p:nvPr/>
        </p:nvSpPr>
        <p:spPr>
          <a:xfrm>
            <a:off x="5166360" y="1417320"/>
            <a:ext cx="2057400" cy="1234440"/>
          </a:xfrm>
          <a:prstGeom prst="roundRect">
            <a:avLst>
              <a:gd name="adj" fmla="val 4444"/>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5"/>
          <p:cNvSpPr/>
          <p:nvPr/>
        </p:nvSpPr>
        <p:spPr>
          <a:xfrm>
            <a:off x="5166360" y="1417320"/>
            <a:ext cx="73152" cy="1234440"/>
          </a:xfrm>
          <a:prstGeom prst="rect">
            <a:avLst/>
          </a:prstGeom>
          <a:solidFill>
            <a:srgbClr val="6D5DFD"/>
          </a:solidFill>
          <a:ln w="12700" cap="flat" cmpd="sng">
            <a:solidFill>
              <a:srgbClr val="6D5DF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5"/>
          <p:cNvSpPr/>
          <p:nvPr/>
        </p:nvSpPr>
        <p:spPr>
          <a:xfrm>
            <a:off x="5367528" y="1563624"/>
            <a:ext cx="1728216"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300"/>
              <a:buFont typeface="Arial"/>
              <a:buNone/>
            </a:pPr>
            <a:r>
              <a:rPr lang="en-US" sz="1300" b="1">
                <a:solidFill>
                  <a:srgbClr val="1F2A44"/>
                </a:solidFill>
                <a:latin typeface="Arial"/>
                <a:ea typeface="Arial"/>
                <a:cs typeface="Arial"/>
                <a:sym typeface="Arial"/>
              </a:rPr>
              <a:t>Face Cropping</a:t>
            </a:r>
            <a:endParaRPr sz="1300">
              <a:solidFill>
                <a:schemeClr val="dk1"/>
              </a:solidFill>
              <a:latin typeface="Arial"/>
              <a:ea typeface="Arial"/>
              <a:cs typeface="Arial"/>
              <a:sym typeface="Arial"/>
            </a:endParaRPr>
          </a:p>
        </p:txBody>
      </p:sp>
      <p:sp>
        <p:nvSpPr>
          <p:cNvPr id="119" name="Google Shape;119;p5"/>
          <p:cNvSpPr/>
          <p:nvPr/>
        </p:nvSpPr>
        <p:spPr>
          <a:xfrm>
            <a:off x="5367528" y="1856232"/>
            <a:ext cx="1728216" cy="70408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MTCNN detects and crops faces</a:t>
            </a:r>
            <a:endParaRPr sz="1050">
              <a:solidFill>
                <a:schemeClr val="dk1"/>
              </a:solidFill>
              <a:latin typeface="Arial"/>
              <a:ea typeface="Arial"/>
              <a:cs typeface="Arial"/>
              <a:sym typeface="Arial"/>
            </a:endParaRPr>
          </a:p>
        </p:txBody>
      </p:sp>
      <p:sp>
        <p:nvSpPr>
          <p:cNvPr id="120" name="Google Shape;120;p5"/>
          <p:cNvSpPr/>
          <p:nvPr/>
        </p:nvSpPr>
        <p:spPr>
          <a:xfrm>
            <a:off x="7223760" y="1874520"/>
            <a:ext cx="438912" cy="329184"/>
          </a:xfrm>
          <a:prstGeom prst="rightArrow">
            <a:avLst>
              <a:gd name="adj1" fmla="val 50000"/>
              <a:gd name="adj2" fmla="val 50000"/>
            </a:avLst>
          </a:prstGeom>
          <a:solidFill>
            <a:srgbClr val="9CA3AF"/>
          </a:solidFill>
          <a:ln w="12700" cap="flat" cmpd="sng">
            <a:solidFill>
              <a:srgbClr val="9CA3A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5"/>
          <p:cNvSpPr/>
          <p:nvPr/>
        </p:nvSpPr>
        <p:spPr>
          <a:xfrm>
            <a:off x="7498080" y="1417320"/>
            <a:ext cx="2057400" cy="1234440"/>
          </a:xfrm>
          <a:prstGeom prst="roundRect">
            <a:avLst>
              <a:gd name="adj" fmla="val 4444"/>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5"/>
          <p:cNvSpPr/>
          <p:nvPr/>
        </p:nvSpPr>
        <p:spPr>
          <a:xfrm>
            <a:off x="7498080" y="1417320"/>
            <a:ext cx="73152" cy="1234440"/>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5"/>
          <p:cNvSpPr/>
          <p:nvPr/>
        </p:nvSpPr>
        <p:spPr>
          <a:xfrm>
            <a:off x="7699248" y="1563624"/>
            <a:ext cx="1728216"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300"/>
              <a:buFont typeface="Arial"/>
              <a:buNone/>
            </a:pPr>
            <a:r>
              <a:rPr lang="en-US" sz="1300" b="1">
                <a:solidFill>
                  <a:srgbClr val="1F2A44"/>
                </a:solidFill>
                <a:latin typeface="Arial"/>
                <a:ea typeface="Arial"/>
                <a:cs typeface="Arial"/>
                <a:sym typeface="Arial"/>
              </a:rPr>
              <a:t>Split Dataset</a:t>
            </a:r>
            <a:endParaRPr sz="1300">
              <a:solidFill>
                <a:schemeClr val="dk1"/>
              </a:solidFill>
              <a:latin typeface="Arial"/>
              <a:ea typeface="Arial"/>
              <a:cs typeface="Arial"/>
              <a:sym typeface="Arial"/>
            </a:endParaRPr>
          </a:p>
        </p:txBody>
      </p:sp>
      <p:sp>
        <p:nvSpPr>
          <p:cNvPr id="124" name="Google Shape;124;p5"/>
          <p:cNvSpPr/>
          <p:nvPr/>
        </p:nvSpPr>
        <p:spPr>
          <a:xfrm>
            <a:off x="7699248" y="1856232"/>
            <a:ext cx="1728216" cy="70408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Train / val / test = 70 / 15 / 15</a:t>
            </a:r>
            <a:endParaRPr sz="1050">
              <a:solidFill>
                <a:schemeClr val="dk1"/>
              </a:solidFill>
              <a:latin typeface="Arial"/>
              <a:ea typeface="Arial"/>
              <a:cs typeface="Arial"/>
              <a:sym typeface="Arial"/>
            </a:endParaRPr>
          </a:p>
        </p:txBody>
      </p:sp>
      <p:sp>
        <p:nvSpPr>
          <p:cNvPr id="125" name="Google Shape;125;p5"/>
          <p:cNvSpPr/>
          <p:nvPr/>
        </p:nvSpPr>
        <p:spPr>
          <a:xfrm>
            <a:off x="9555480" y="1874520"/>
            <a:ext cx="438912" cy="329184"/>
          </a:xfrm>
          <a:prstGeom prst="rightArrow">
            <a:avLst>
              <a:gd name="adj1" fmla="val 50000"/>
              <a:gd name="adj2" fmla="val 50000"/>
            </a:avLst>
          </a:prstGeom>
          <a:solidFill>
            <a:srgbClr val="9CA3AF"/>
          </a:solidFill>
          <a:ln w="12700" cap="flat" cmpd="sng">
            <a:solidFill>
              <a:srgbClr val="9CA3A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5"/>
          <p:cNvSpPr/>
          <p:nvPr/>
        </p:nvSpPr>
        <p:spPr>
          <a:xfrm>
            <a:off x="9829800" y="1417320"/>
            <a:ext cx="2057400" cy="1234440"/>
          </a:xfrm>
          <a:prstGeom prst="roundRect">
            <a:avLst>
              <a:gd name="adj" fmla="val 4444"/>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5"/>
          <p:cNvSpPr/>
          <p:nvPr/>
        </p:nvSpPr>
        <p:spPr>
          <a:xfrm>
            <a:off x="9829800" y="1417320"/>
            <a:ext cx="73152" cy="1234440"/>
          </a:xfrm>
          <a:prstGeom prst="rect">
            <a:avLst/>
          </a:prstGeom>
          <a:solidFill>
            <a:srgbClr val="DC2626"/>
          </a:solidFill>
          <a:ln w="12700" cap="flat" cmpd="sng">
            <a:solidFill>
              <a:srgbClr val="DC262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
          <p:cNvSpPr/>
          <p:nvPr/>
        </p:nvSpPr>
        <p:spPr>
          <a:xfrm>
            <a:off x="10030968" y="1563624"/>
            <a:ext cx="1728216"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300"/>
              <a:buFont typeface="Arial"/>
              <a:buNone/>
            </a:pPr>
            <a:r>
              <a:rPr lang="en-US" sz="1300" b="1">
                <a:solidFill>
                  <a:srgbClr val="1F2A44"/>
                </a:solidFill>
                <a:latin typeface="Arial"/>
                <a:ea typeface="Arial"/>
                <a:cs typeface="Arial"/>
                <a:sym typeface="Arial"/>
              </a:rPr>
              <a:t>DataLoaders</a:t>
            </a:r>
            <a:endParaRPr sz="1300">
              <a:solidFill>
                <a:schemeClr val="dk1"/>
              </a:solidFill>
              <a:latin typeface="Arial"/>
              <a:ea typeface="Arial"/>
              <a:cs typeface="Arial"/>
              <a:sym typeface="Arial"/>
            </a:endParaRPr>
          </a:p>
        </p:txBody>
      </p:sp>
      <p:sp>
        <p:nvSpPr>
          <p:cNvPr id="129" name="Google Shape;129;p5"/>
          <p:cNvSpPr/>
          <p:nvPr/>
        </p:nvSpPr>
        <p:spPr>
          <a:xfrm>
            <a:off x="10030968" y="1856232"/>
            <a:ext cx="1728216" cy="70408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Batches ready for PyTorch</a:t>
            </a:r>
            <a:endParaRPr sz="1050">
              <a:solidFill>
                <a:schemeClr val="dk1"/>
              </a:solidFill>
              <a:latin typeface="Arial"/>
              <a:ea typeface="Arial"/>
              <a:cs typeface="Arial"/>
              <a:sym typeface="Arial"/>
            </a:endParaRPr>
          </a:p>
        </p:txBody>
      </p:sp>
      <p:sp>
        <p:nvSpPr>
          <p:cNvPr id="130" name="Google Shape;130;p5"/>
          <p:cNvSpPr/>
          <p:nvPr/>
        </p:nvSpPr>
        <p:spPr>
          <a:xfrm>
            <a:off x="914400" y="3657600"/>
            <a:ext cx="10058400" cy="1554480"/>
          </a:xfrm>
          <a:prstGeom prst="rect">
            <a:avLst/>
          </a:prstGeom>
          <a:noFill/>
          <a:ln>
            <a:noFill/>
          </a:ln>
        </p:spPr>
        <p:txBody>
          <a:bodyPr spcFirstLastPara="1" wrap="square" lIns="625" tIns="625" rIns="625" bIns="625" anchor="ctr" anchorCtr="0">
            <a:normAutofit/>
          </a:bodyPr>
          <a:lstStyle/>
          <a:p>
            <a:pPr marL="0" marR="0" lvl="0" indent="0" algn="l" rtl="0">
              <a:spcBef>
                <a:spcPts val="0"/>
              </a:spcBef>
              <a:spcAft>
                <a:spcPts val="0"/>
              </a:spcAft>
              <a:buNone/>
            </a:pPr>
            <a:r>
              <a:rPr lang="en-US" sz="1600" dirty="0">
                <a:solidFill>
                  <a:srgbClr val="111827"/>
                </a:solidFill>
                <a:latin typeface="Arial"/>
                <a:ea typeface="Arial"/>
                <a:cs typeface="Arial"/>
                <a:sym typeface="Arial"/>
              </a:rPr>
              <a:t>Training transforms: resize/crop, augmentation, normalization using ImageNet mean and standard deviation.</a:t>
            </a: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a:solidFill>
                  <a:srgbClr val="111827"/>
                </a:solidFill>
                <a:latin typeface="Arial"/>
                <a:ea typeface="Arial"/>
                <a:cs typeface="Arial"/>
                <a:sym typeface="Arial"/>
              </a:rPr>
              <a:t>Validation/test transforms: resize and normalization only, so evaluation is consistent.</a:t>
            </a: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err="1">
                <a:solidFill>
                  <a:srgbClr val="111827"/>
                </a:solidFill>
                <a:latin typeface="Arial"/>
                <a:ea typeface="Arial"/>
                <a:cs typeface="Arial"/>
                <a:sym typeface="Arial"/>
              </a:rPr>
              <a:t>DataLoader</a:t>
            </a:r>
            <a:r>
              <a:rPr lang="en-US" sz="1600" dirty="0">
                <a:solidFill>
                  <a:srgbClr val="111827"/>
                </a:solidFill>
                <a:latin typeface="Arial"/>
                <a:ea typeface="Arial"/>
                <a:cs typeface="Arial"/>
                <a:sym typeface="Arial"/>
              </a:rPr>
              <a:t> verification: sample batch shape = [32, 3, 224, 224].</a:t>
            </a:r>
            <a:endParaRPr sz="1600" dirty="0">
              <a:solidFill>
                <a:schemeClr val="dk1"/>
              </a:solidFill>
              <a:latin typeface="Arial"/>
              <a:ea typeface="Arial"/>
              <a:cs typeface="Arial"/>
              <a:sym typeface="Arial"/>
            </a:endParaRPr>
          </a:p>
        </p:txBody>
      </p:sp>
      <p:sp>
        <p:nvSpPr>
          <p:cNvPr id="131" name="Google Shape;131;p5"/>
          <p:cNvSpPr/>
          <p:nvPr/>
        </p:nvSpPr>
        <p:spPr>
          <a:xfrm>
            <a:off x="1005840" y="5486400"/>
            <a:ext cx="10149840" cy="566928"/>
          </a:xfrm>
          <a:prstGeom prst="roundRect">
            <a:avLst>
              <a:gd name="adj" fmla="val 8065"/>
            </a:avLst>
          </a:prstGeom>
          <a:solidFill>
            <a:srgbClr val="ECFDF5"/>
          </a:solidFill>
          <a:ln w="12700" cap="flat" cmpd="sng">
            <a:solidFill>
              <a:srgbClr val="A7F3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
          <p:cNvSpPr/>
          <p:nvPr/>
        </p:nvSpPr>
        <p:spPr>
          <a:xfrm>
            <a:off x="1143000" y="5650992"/>
            <a:ext cx="9875520" cy="1645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65F46"/>
              </a:buClr>
              <a:buSzPts val="1400"/>
              <a:buFont typeface="Arial"/>
              <a:buNone/>
            </a:pPr>
            <a:r>
              <a:rPr lang="en-US" sz="1400" b="1" dirty="0">
                <a:solidFill>
                  <a:srgbClr val="065F46"/>
                </a:solidFill>
                <a:latin typeface="Arial"/>
                <a:ea typeface="Arial"/>
                <a:cs typeface="Arial"/>
                <a:sym typeface="Arial"/>
              </a:rPr>
              <a:t>Key result: the data pipeline is complete, verified, and ready for CNN training.</a:t>
            </a:r>
            <a:endParaRPr sz="1400" dirty="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7"/>
        <p:cNvGrpSpPr/>
        <p:nvPr/>
      </p:nvGrpSpPr>
      <p:grpSpPr>
        <a:xfrm>
          <a:off x="0" y="0"/>
          <a:ext cx="0" cy="0"/>
          <a:chOff x="0" y="0"/>
          <a:chExt cx="0" cy="0"/>
        </a:xfrm>
      </p:grpSpPr>
      <p:sp>
        <p:nvSpPr>
          <p:cNvPr id="138" name="Google Shape;138;p6"/>
          <p:cNvSpPr/>
          <p:nvPr/>
        </p:nvSpPr>
        <p:spPr>
          <a:xfrm>
            <a:off x="0" y="0"/>
            <a:ext cx="12191695" cy="164592"/>
          </a:xfrm>
          <a:prstGeom prst="rect">
            <a:avLst/>
          </a:prstGeom>
          <a:solidFill>
            <a:srgbClr val="2F6BFF"/>
          </a:solidFill>
          <a:ln w="12700" cap="flat" cmpd="sng">
            <a:solidFill>
              <a:srgbClr val="2F6B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6"/>
          <p:cNvSpPr/>
          <p:nvPr/>
        </p:nvSpPr>
        <p:spPr>
          <a:xfrm>
            <a:off x="0" y="6547104"/>
            <a:ext cx="12191695" cy="310896"/>
          </a:xfrm>
          <a:prstGeom prst="rect">
            <a:avLst/>
          </a:prstGeom>
          <a:solidFill>
            <a:srgbClr val="1F2A44"/>
          </a:solidFill>
          <a:ln w="12700" cap="flat" cmpd="sng">
            <a:solidFill>
              <a:srgbClr val="1F2A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6"/>
          <p:cNvSpPr/>
          <p:nvPr/>
        </p:nvSpPr>
        <p:spPr>
          <a:xfrm>
            <a:off x="502920" y="411480"/>
            <a:ext cx="1088136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2700"/>
              <a:buFont typeface="Play"/>
              <a:buNone/>
            </a:pPr>
            <a:r>
              <a:rPr lang="en-US" sz="2700" b="1">
                <a:solidFill>
                  <a:srgbClr val="1F2A44"/>
                </a:solidFill>
                <a:latin typeface="Play"/>
                <a:ea typeface="Play"/>
                <a:cs typeface="Play"/>
                <a:sym typeface="Play"/>
              </a:rPr>
              <a:t>Model Used: CNN Transfer Learning</a:t>
            </a:r>
            <a:endParaRPr sz="2700">
              <a:solidFill>
                <a:schemeClr val="dk1"/>
              </a:solidFill>
              <a:latin typeface="Arial"/>
              <a:ea typeface="Arial"/>
              <a:cs typeface="Arial"/>
              <a:sym typeface="Arial"/>
            </a:endParaRPr>
          </a:p>
        </p:txBody>
      </p:sp>
      <p:sp>
        <p:nvSpPr>
          <p:cNvPr id="141" name="Google Shape;141;p6"/>
          <p:cNvSpPr/>
          <p:nvPr/>
        </p:nvSpPr>
        <p:spPr>
          <a:xfrm>
            <a:off x="530352" y="941832"/>
            <a:ext cx="106984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100"/>
              <a:buFont typeface="Arial"/>
              <a:buNone/>
            </a:pPr>
            <a:r>
              <a:rPr lang="en-US" sz="1100">
                <a:solidFill>
                  <a:srgbClr val="6B7280"/>
                </a:solidFill>
                <a:latin typeface="Arial"/>
                <a:ea typeface="Arial"/>
                <a:cs typeface="Arial"/>
                <a:sym typeface="Arial"/>
              </a:rPr>
              <a:t>Recommended baseline: pretrained ResNet-18 with a new final layer for binary classification.</a:t>
            </a:r>
            <a:endParaRPr sz="1100">
              <a:solidFill>
                <a:schemeClr val="dk1"/>
              </a:solidFill>
              <a:latin typeface="Arial"/>
              <a:ea typeface="Arial"/>
              <a:cs typeface="Arial"/>
              <a:sym typeface="Arial"/>
            </a:endParaRPr>
          </a:p>
        </p:txBody>
      </p:sp>
      <p:sp>
        <p:nvSpPr>
          <p:cNvPr id="142" name="Google Shape;142;p6"/>
          <p:cNvSpPr/>
          <p:nvPr/>
        </p:nvSpPr>
        <p:spPr>
          <a:xfrm>
            <a:off x="502920" y="6620256"/>
            <a:ext cx="292608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5E7EB"/>
              </a:buClr>
              <a:buSzPts val="750"/>
              <a:buFont typeface="Arial"/>
              <a:buNone/>
            </a:pPr>
            <a:r>
              <a:rPr lang="en-US" sz="750">
                <a:solidFill>
                  <a:srgbClr val="E5E7EB"/>
                </a:solidFill>
                <a:latin typeface="Arial"/>
                <a:ea typeface="Arial"/>
                <a:cs typeface="Arial"/>
                <a:sym typeface="Arial"/>
              </a:rPr>
              <a:t>DATA 621 Final Project | 6</a:t>
            </a:r>
            <a:endParaRPr sz="750">
              <a:solidFill>
                <a:schemeClr val="dk1"/>
              </a:solidFill>
              <a:latin typeface="Arial"/>
              <a:ea typeface="Arial"/>
              <a:cs typeface="Arial"/>
              <a:sym typeface="Arial"/>
            </a:endParaRPr>
          </a:p>
        </p:txBody>
      </p:sp>
      <p:sp>
        <p:nvSpPr>
          <p:cNvPr id="143" name="Google Shape;143;p6"/>
          <p:cNvSpPr/>
          <p:nvPr/>
        </p:nvSpPr>
        <p:spPr>
          <a:xfrm>
            <a:off x="731520" y="1325880"/>
            <a:ext cx="4937760" cy="2560320"/>
          </a:xfrm>
          <a:prstGeom prst="rect">
            <a:avLst/>
          </a:prstGeom>
          <a:noFill/>
          <a:ln>
            <a:noFill/>
          </a:ln>
        </p:spPr>
        <p:txBody>
          <a:bodyPr spcFirstLastPara="1" wrap="square" lIns="625" tIns="625" rIns="625" bIns="625" anchor="ctr" anchorCtr="0">
            <a:normAutofit/>
          </a:bodyPr>
          <a:lstStyle/>
          <a:p>
            <a:pPr marL="0" marR="0" lvl="0" indent="0" algn="l" rtl="0">
              <a:spcBef>
                <a:spcPts val="0"/>
              </a:spcBef>
              <a:spcAft>
                <a:spcPts val="0"/>
              </a:spcAft>
              <a:buNone/>
            </a:pPr>
            <a:r>
              <a:rPr lang="en-US" sz="1600" dirty="0">
                <a:solidFill>
                  <a:srgbClr val="111827"/>
                </a:solidFill>
                <a:latin typeface="Arial"/>
                <a:ea typeface="Arial"/>
                <a:cs typeface="Arial"/>
                <a:sym typeface="Arial"/>
              </a:rPr>
              <a:t>Input: 224×224 RGB face image.</a:t>
            </a: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a:solidFill>
                  <a:srgbClr val="111827"/>
                </a:solidFill>
                <a:latin typeface="Arial"/>
                <a:ea typeface="Arial"/>
                <a:cs typeface="Arial"/>
                <a:sym typeface="Arial"/>
              </a:rPr>
              <a:t>Feature extractor: pretrained convolutional layers from ResNet-18.</a:t>
            </a: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a:solidFill>
                  <a:srgbClr val="111827"/>
                </a:solidFill>
                <a:latin typeface="Arial"/>
                <a:ea typeface="Arial"/>
                <a:cs typeface="Arial"/>
                <a:sym typeface="Arial"/>
              </a:rPr>
              <a:t>Classifier head: replace the original ImageNet layer with a 2-class output layer.</a:t>
            </a: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a:solidFill>
                  <a:srgbClr val="111827"/>
                </a:solidFill>
                <a:latin typeface="Arial"/>
                <a:ea typeface="Arial"/>
                <a:cs typeface="Arial"/>
                <a:sym typeface="Arial"/>
              </a:rPr>
              <a:t>Output: predicted class probabilities for fake vs. real.</a:t>
            </a:r>
            <a:endParaRPr sz="1600" dirty="0">
              <a:solidFill>
                <a:schemeClr val="dk1"/>
              </a:solidFill>
              <a:latin typeface="Arial"/>
              <a:ea typeface="Arial"/>
              <a:cs typeface="Arial"/>
              <a:sym typeface="Arial"/>
            </a:endParaRPr>
          </a:p>
        </p:txBody>
      </p:sp>
      <p:sp>
        <p:nvSpPr>
          <p:cNvPr id="144" name="Google Shape;144;p6"/>
          <p:cNvSpPr/>
          <p:nvPr/>
        </p:nvSpPr>
        <p:spPr>
          <a:xfrm>
            <a:off x="6126480" y="1234440"/>
            <a:ext cx="1417320" cy="822960"/>
          </a:xfrm>
          <a:prstGeom prst="roundRect">
            <a:avLst>
              <a:gd name="adj" fmla="val 6667"/>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6"/>
          <p:cNvSpPr/>
          <p:nvPr/>
        </p:nvSpPr>
        <p:spPr>
          <a:xfrm>
            <a:off x="6126480" y="1234440"/>
            <a:ext cx="73152" cy="822960"/>
          </a:xfrm>
          <a:prstGeom prst="rect">
            <a:avLst/>
          </a:prstGeom>
          <a:solidFill>
            <a:srgbClr val="2F6BFF"/>
          </a:solidFill>
          <a:ln w="12700" cap="flat" cmpd="sng">
            <a:solidFill>
              <a:srgbClr val="2F6B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6"/>
          <p:cNvSpPr/>
          <p:nvPr/>
        </p:nvSpPr>
        <p:spPr>
          <a:xfrm>
            <a:off x="6327648" y="1380744"/>
            <a:ext cx="1088136"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300"/>
              <a:buFont typeface="Arial"/>
              <a:buNone/>
            </a:pPr>
            <a:r>
              <a:rPr lang="en-US" sz="1300" b="1">
                <a:solidFill>
                  <a:srgbClr val="1F2A44"/>
                </a:solidFill>
                <a:latin typeface="Arial"/>
                <a:ea typeface="Arial"/>
                <a:cs typeface="Arial"/>
                <a:sym typeface="Arial"/>
              </a:rPr>
              <a:t>Input</a:t>
            </a:r>
            <a:endParaRPr sz="1300">
              <a:solidFill>
                <a:schemeClr val="dk1"/>
              </a:solidFill>
              <a:latin typeface="Arial"/>
              <a:ea typeface="Arial"/>
              <a:cs typeface="Arial"/>
              <a:sym typeface="Arial"/>
            </a:endParaRPr>
          </a:p>
        </p:txBody>
      </p:sp>
      <p:sp>
        <p:nvSpPr>
          <p:cNvPr id="147" name="Google Shape;147;p6"/>
          <p:cNvSpPr/>
          <p:nvPr/>
        </p:nvSpPr>
        <p:spPr>
          <a:xfrm>
            <a:off x="6327648" y="1673352"/>
            <a:ext cx="1088136" cy="29260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3×224×224</a:t>
            </a:r>
            <a:endParaRPr sz="1050">
              <a:solidFill>
                <a:schemeClr val="dk1"/>
              </a:solidFill>
              <a:latin typeface="Arial"/>
              <a:ea typeface="Arial"/>
              <a:cs typeface="Arial"/>
              <a:sym typeface="Arial"/>
            </a:endParaRPr>
          </a:p>
        </p:txBody>
      </p:sp>
      <p:sp>
        <p:nvSpPr>
          <p:cNvPr id="148" name="Google Shape;148;p6"/>
          <p:cNvSpPr/>
          <p:nvPr/>
        </p:nvSpPr>
        <p:spPr>
          <a:xfrm>
            <a:off x="7589520" y="1481328"/>
            <a:ext cx="502920" cy="274320"/>
          </a:xfrm>
          <a:prstGeom prst="rightArrow">
            <a:avLst>
              <a:gd name="adj1" fmla="val 50000"/>
              <a:gd name="adj2" fmla="val 50000"/>
            </a:avLst>
          </a:prstGeom>
          <a:solidFill>
            <a:srgbClr val="9CA3AF"/>
          </a:solidFill>
          <a:ln w="12700" cap="flat" cmpd="sng">
            <a:solidFill>
              <a:srgbClr val="9CA3A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6"/>
          <p:cNvSpPr/>
          <p:nvPr/>
        </p:nvSpPr>
        <p:spPr>
          <a:xfrm>
            <a:off x="8183880" y="1234440"/>
            <a:ext cx="1600200" cy="822960"/>
          </a:xfrm>
          <a:prstGeom prst="roundRect">
            <a:avLst>
              <a:gd name="adj" fmla="val 6667"/>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6"/>
          <p:cNvSpPr/>
          <p:nvPr/>
        </p:nvSpPr>
        <p:spPr>
          <a:xfrm>
            <a:off x="8183880" y="1234440"/>
            <a:ext cx="73152" cy="822960"/>
          </a:xfrm>
          <a:prstGeom prst="rect">
            <a:avLst/>
          </a:prstGeom>
          <a:solidFill>
            <a:srgbClr val="6D5DFD"/>
          </a:solidFill>
          <a:ln w="12700" cap="flat" cmpd="sng">
            <a:solidFill>
              <a:srgbClr val="6D5DF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6"/>
          <p:cNvSpPr/>
          <p:nvPr/>
        </p:nvSpPr>
        <p:spPr>
          <a:xfrm>
            <a:off x="8385048" y="1380744"/>
            <a:ext cx="1271016"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300"/>
              <a:buFont typeface="Arial"/>
              <a:buNone/>
            </a:pPr>
            <a:r>
              <a:rPr lang="en-US" sz="1300" b="1">
                <a:solidFill>
                  <a:srgbClr val="1F2A44"/>
                </a:solidFill>
                <a:latin typeface="Arial"/>
                <a:ea typeface="Arial"/>
                <a:cs typeface="Arial"/>
                <a:sym typeface="Arial"/>
              </a:rPr>
              <a:t>CNN Blocks</a:t>
            </a:r>
            <a:endParaRPr sz="1300">
              <a:solidFill>
                <a:schemeClr val="dk1"/>
              </a:solidFill>
              <a:latin typeface="Arial"/>
              <a:ea typeface="Arial"/>
              <a:cs typeface="Arial"/>
              <a:sym typeface="Arial"/>
            </a:endParaRPr>
          </a:p>
        </p:txBody>
      </p:sp>
      <p:sp>
        <p:nvSpPr>
          <p:cNvPr id="152" name="Google Shape;152;p6"/>
          <p:cNvSpPr/>
          <p:nvPr/>
        </p:nvSpPr>
        <p:spPr>
          <a:xfrm>
            <a:off x="8385048" y="1673352"/>
            <a:ext cx="1271016" cy="29260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ResNet features</a:t>
            </a:r>
            <a:endParaRPr sz="1050">
              <a:solidFill>
                <a:schemeClr val="dk1"/>
              </a:solidFill>
              <a:latin typeface="Arial"/>
              <a:ea typeface="Arial"/>
              <a:cs typeface="Arial"/>
              <a:sym typeface="Arial"/>
            </a:endParaRPr>
          </a:p>
        </p:txBody>
      </p:sp>
      <p:sp>
        <p:nvSpPr>
          <p:cNvPr id="153" name="Google Shape;153;p6"/>
          <p:cNvSpPr/>
          <p:nvPr/>
        </p:nvSpPr>
        <p:spPr>
          <a:xfrm>
            <a:off x="9857232" y="1481328"/>
            <a:ext cx="502920" cy="274320"/>
          </a:xfrm>
          <a:prstGeom prst="rightArrow">
            <a:avLst>
              <a:gd name="adj1" fmla="val 50000"/>
              <a:gd name="adj2" fmla="val 50000"/>
            </a:avLst>
          </a:prstGeom>
          <a:solidFill>
            <a:srgbClr val="9CA3AF"/>
          </a:solidFill>
          <a:ln w="12700" cap="flat" cmpd="sng">
            <a:solidFill>
              <a:srgbClr val="9CA3A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6"/>
          <p:cNvSpPr/>
          <p:nvPr/>
        </p:nvSpPr>
        <p:spPr>
          <a:xfrm>
            <a:off x="10424160" y="1234440"/>
            <a:ext cx="1143000" cy="822960"/>
          </a:xfrm>
          <a:prstGeom prst="roundRect">
            <a:avLst>
              <a:gd name="adj" fmla="val 6667"/>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6"/>
          <p:cNvSpPr/>
          <p:nvPr/>
        </p:nvSpPr>
        <p:spPr>
          <a:xfrm>
            <a:off x="10424160" y="1234440"/>
            <a:ext cx="73152" cy="822960"/>
          </a:xfrm>
          <a:prstGeom prst="rect">
            <a:avLst/>
          </a:prstGeom>
          <a:solidFill>
            <a:srgbClr val="0EA5A4"/>
          </a:solidFill>
          <a:ln w="12700" cap="flat" cmpd="sng">
            <a:solidFill>
              <a:srgbClr val="0EA5A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6"/>
          <p:cNvSpPr/>
          <p:nvPr/>
        </p:nvSpPr>
        <p:spPr>
          <a:xfrm>
            <a:off x="10625328" y="1380744"/>
            <a:ext cx="813816"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300"/>
              <a:buFont typeface="Arial"/>
              <a:buNone/>
            </a:pPr>
            <a:r>
              <a:rPr lang="en-US" sz="1300" b="1">
                <a:solidFill>
                  <a:srgbClr val="1F2A44"/>
                </a:solidFill>
                <a:latin typeface="Arial"/>
                <a:ea typeface="Arial"/>
                <a:cs typeface="Arial"/>
                <a:sym typeface="Arial"/>
              </a:rPr>
              <a:t>Output</a:t>
            </a:r>
            <a:endParaRPr sz="1300">
              <a:solidFill>
                <a:schemeClr val="dk1"/>
              </a:solidFill>
              <a:latin typeface="Arial"/>
              <a:ea typeface="Arial"/>
              <a:cs typeface="Arial"/>
              <a:sym typeface="Arial"/>
            </a:endParaRPr>
          </a:p>
        </p:txBody>
      </p:sp>
      <p:sp>
        <p:nvSpPr>
          <p:cNvPr id="157" name="Google Shape;157;p6"/>
          <p:cNvSpPr/>
          <p:nvPr/>
        </p:nvSpPr>
        <p:spPr>
          <a:xfrm>
            <a:off x="10625328" y="1673352"/>
            <a:ext cx="813816" cy="29260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Fake / Real</a:t>
            </a:r>
            <a:endParaRPr sz="1050">
              <a:solidFill>
                <a:schemeClr val="dk1"/>
              </a:solidFill>
              <a:latin typeface="Arial"/>
              <a:ea typeface="Arial"/>
              <a:cs typeface="Arial"/>
              <a:sym typeface="Arial"/>
            </a:endParaRPr>
          </a:p>
        </p:txBody>
      </p:sp>
      <p:sp>
        <p:nvSpPr>
          <p:cNvPr id="158" name="Google Shape;158;p6"/>
          <p:cNvSpPr/>
          <p:nvPr/>
        </p:nvSpPr>
        <p:spPr>
          <a:xfrm>
            <a:off x="6172200" y="2743200"/>
            <a:ext cx="5257800" cy="2377440"/>
          </a:xfrm>
          <a:prstGeom prst="roundRect">
            <a:avLst>
              <a:gd name="adj" fmla="val 3077"/>
            </a:avLst>
          </a:prstGeom>
          <a:solidFill>
            <a:srgbClr val="F8FAFC"/>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6"/>
          <p:cNvSpPr/>
          <p:nvPr/>
        </p:nvSpPr>
        <p:spPr>
          <a:xfrm>
            <a:off x="6446520" y="2999232"/>
            <a:ext cx="475488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800"/>
              <a:buFont typeface="Arial"/>
              <a:buNone/>
            </a:pPr>
            <a:r>
              <a:rPr lang="en-US" sz="1800" b="1">
                <a:solidFill>
                  <a:srgbClr val="1F2A44"/>
                </a:solidFill>
                <a:latin typeface="Arial"/>
                <a:ea typeface="Arial"/>
                <a:cs typeface="Arial"/>
                <a:sym typeface="Arial"/>
              </a:rPr>
              <a:t>Why Transfer Learning?</a:t>
            </a:r>
            <a:endParaRPr sz="1800">
              <a:solidFill>
                <a:schemeClr val="dk1"/>
              </a:solidFill>
              <a:latin typeface="Arial"/>
              <a:ea typeface="Arial"/>
              <a:cs typeface="Arial"/>
              <a:sym typeface="Arial"/>
            </a:endParaRPr>
          </a:p>
        </p:txBody>
      </p:sp>
      <p:sp>
        <p:nvSpPr>
          <p:cNvPr id="160" name="Google Shape;160;p6"/>
          <p:cNvSpPr/>
          <p:nvPr/>
        </p:nvSpPr>
        <p:spPr>
          <a:xfrm>
            <a:off x="6446520" y="3401568"/>
            <a:ext cx="4617720" cy="960120"/>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4B5563"/>
              </a:buClr>
              <a:buSzPts val="1220"/>
              <a:buFont typeface="Arial"/>
              <a:buNone/>
            </a:pPr>
            <a:r>
              <a:rPr lang="en-US" sz="1220" dirty="0">
                <a:solidFill>
                  <a:srgbClr val="4B5563"/>
                </a:solidFill>
                <a:latin typeface="Arial"/>
                <a:ea typeface="Arial"/>
                <a:cs typeface="Arial"/>
                <a:sym typeface="Arial"/>
              </a:rPr>
              <a:t>Using a pretrained model helps when training time is limited. The earlier layers already recognize general visual features like edges, textures, and shapes. The final layer is then adapted to our deepfake detection task.</a:t>
            </a:r>
            <a:endParaRPr sz="1220" dirty="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0"/>
        <p:cNvGrpSpPr/>
        <p:nvPr/>
      </p:nvGrpSpPr>
      <p:grpSpPr>
        <a:xfrm>
          <a:off x="0" y="0"/>
          <a:ext cx="0" cy="0"/>
          <a:chOff x="0" y="0"/>
          <a:chExt cx="0" cy="0"/>
        </a:xfrm>
      </p:grpSpPr>
      <p:sp>
        <p:nvSpPr>
          <p:cNvPr id="201" name="Google Shape;201;p7"/>
          <p:cNvSpPr/>
          <p:nvPr/>
        </p:nvSpPr>
        <p:spPr>
          <a:xfrm>
            <a:off x="0" y="0"/>
            <a:ext cx="12191695" cy="164592"/>
          </a:xfrm>
          <a:prstGeom prst="rect">
            <a:avLst/>
          </a:prstGeom>
          <a:solidFill>
            <a:srgbClr val="2F6BFF"/>
          </a:solidFill>
          <a:ln w="12700" cap="flat" cmpd="sng">
            <a:solidFill>
              <a:srgbClr val="2F6B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2" name="Google Shape;202;p7"/>
          <p:cNvSpPr/>
          <p:nvPr/>
        </p:nvSpPr>
        <p:spPr>
          <a:xfrm>
            <a:off x="0" y="6547104"/>
            <a:ext cx="12191695" cy="310896"/>
          </a:xfrm>
          <a:prstGeom prst="rect">
            <a:avLst/>
          </a:prstGeom>
          <a:solidFill>
            <a:srgbClr val="1F2A44"/>
          </a:solidFill>
          <a:ln w="12700" cap="flat" cmpd="sng">
            <a:solidFill>
              <a:srgbClr val="1F2A44"/>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 name="Google Shape;203;p7"/>
          <p:cNvSpPr/>
          <p:nvPr/>
        </p:nvSpPr>
        <p:spPr>
          <a:xfrm>
            <a:off x="502920" y="411480"/>
            <a:ext cx="10881360" cy="475488"/>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700" b="1" i="0" u="none" strike="noStrike" kern="0" cap="none" spc="0" normalizeH="0" baseline="0" noProof="0" dirty="0">
                <a:ln>
                  <a:noFill/>
                </a:ln>
                <a:solidFill>
                  <a:srgbClr val="1F2A44"/>
                </a:solidFill>
                <a:effectLst/>
                <a:uLnTx/>
                <a:uFillTx/>
                <a:latin typeface="Play"/>
                <a:ea typeface="Play"/>
                <a:cs typeface="Play"/>
                <a:sym typeface="Play"/>
              </a:rPr>
              <a:t>Loss Function and Hyperparameters</a:t>
            </a:r>
            <a:endParaRPr kumimoji="0" sz="2700" b="0" i="0" u="none" strike="noStrike" kern="0" cap="none" spc="0" normalizeH="0" baseline="0" noProof="0" dirty="0">
              <a:ln>
                <a:noFill/>
              </a:ln>
              <a:solidFill>
                <a:srgbClr val="000000"/>
              </a:solidFill>
              <a:effectLst/>
              <a:uLnTx/>
              <a:uFillTx/>
              <a:latin typeface="Arial"/>
              <a:cs typeface="Arial"/>
              <a:sym typeface="Arial"/>
            </a:endParaRPr>
          </a:p>
        </p:txBody>
      </p:sp>
      <p:sp>
        <p:nvSpPr>
          <p:cNvPr id="204" name="Google Shape;204;p7"/>
          <p:cNvSpPr/>
          <p:nvPr/>
        </p:nvSpPr>
        <p:spPr>
          <a:xfrm>
            <a:off x="530352" y="941832"/>
            <a:ext cx="10698480" cy="292608"/>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6B7280"/>
                </a:solidFill>
                <a:effectLst/>
                <a:uLnTx/>
                <a:uFillTx/>
                <a:latin typeface="Arial"/>
                <a:ea typeface="Arial"/>
                <a:cs typeface="Arial"/>
                <a:sym typeface="Arial"/>
              </a:rPr>
              <a:t>Two-phase transfer learning: frozen baseline then fine-tuned backbone</a:t>
            </a:r>
            <a:endParaRPr kumimoji="0" sz="1100" b="0" i="0" u="none" strike="noStrike" kern="0" cap="none" spc="0" normalizeH="0" baseline="0" noProof="0" dirty="0">
              <a:ln>
                <a:noFill/>
              </a:ln>
              <a:solidFill>
                <a:srgbClr val="000000"/>
              </a:solidFill>
              <a:effectLst/>
              <a:uLnTx/>
              <a:uFillTx/>
              <a:latin typeface="Arial"/>
              <a:cs typeface="Arial"/>
              <a:sym typeface="Arial"/>
            </a:endParaRPr>
          </a:p>
        </p:txBody>
      </p:sp>
      <p:sp>
        <p:nvSpPr>
          <p:cNvPr id="205" name="Google Shape;205;p7"/>
          <p:cNvSpPr/>
          <p:nvPr/>
        </p:nvSpPr>
        <p:spPr>
          <a:xfrm>
            <a:off x="502920" y="6620256"/>
            <a:ext cx="2926080" cy="128016"/>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750" b="0" i="0" u="none" strike="noStrike" kern="0" cap="none" spc="0" normalizeH="0" baseline="0" noProof="0" dirty="0">
                <a:ln>
                  <a:noFill/>
                </a:ln>
                <a:solidFill>
                  <a:srgbClr val="E5E7EB"/>
                </a:solidFill>
                <a:effectLst/>
                <a:uLnTx/>
                <a:uFillTx/>
                <a:latin typeface="Arial"/>
                <a:ea typeface="Arial"/>
                <a:cs typeface="Arial"/>
                <a:sym typeface="Arial"/>
              </a:rPr>
              <a:t>DATA 621 Final Project | 7</a:t>
            </a:r>
            <a:endParaRPr kumimoji="0" sz="750" b="0" i="0" u="none" strike="noStrike" kern="0" cap="none" spc="0" normalizeH="0" baseline="0" noProof="0" dirty="0">
              <a:ln>
                <a:noFill/>
              </a:ln>
              <a:solidFill>
                <a:srgbClr val="000000"/>
              </a:solidFill>
              <a:effectLst/>
              <a:uLnTx/>
              <a:uFillTx/>
              <a:latin typeface="Arial"/>
              <a:cs typeface="Arial"/>
              <a:sym typeface="Arial"/>
            </a:endParaRPr>
          </a:p>
        </p:txBody>
      </p:sp>
      <p:sp>
        <p:nvSpPr>
          <p:cNvPr id="200" name="Google Shape;200;p7"/>
          <p:cNvSpPr/>
          <p:nvPr/>
        </p:nvSpPr>
        <p:spPr>
          <a:xfrm>
            <a:off x="731520" y="1234440"/>
            <a:ext cx="2651760" cy="1050000"/>
          </a:xfrm>
          <a:prstGeom prst="roundRect">
            <a:avLst>
              <a:gd name="adj" fmla="val 4800"/>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 name="Google Shape;201;p7"/>
          <p:cNvSpPr/>
          <p:nvPr/>
        </p:nvSpPr>
        <p:spPr>
          <a:xfrm>
            <a:off x="731520" y="1234440"/>
            <a:ext cx="73152" cy="1050000"/>
          </a:xfrm>
          <a:prstGeom prst="rect">
            <a:avLst/>
          </a:prstGeom>
          <a:solidFill>
            <a:srgbClr val="2F6BFF"/>
          </a:solidFill>
          <a:ln w="12700" cap="flat" cmpd="sng">
            <a:solidFill>
              <a:srgbClr val="2F6B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Google Shape;202;p7"/>
          <p:cNvSpPr/>
          <p:nvPr/>
        </p:nvSpPr>
        <p:spPr>
          <a:xfrm>
            <a:off x="1005840" y="1380744"/>
            <a:ext cx="2304288"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300" b="1" i="0" u="none" strike="noStrike" kern="0" cap="none" spc="0" normalizeH="0" baseline="0" noProof="0">
                <a:ln>
                  <a:noFill/>
                </a:ln>
                <a:solidFill>
                  <a:srgbClr val="1F2A44"/>
                </a:solidFill>
                <a:effectLst/>
                <a:uLnTx/>
                <a:uFillTx/>
                <a:latin typeface="Arial"/>
                <a:ea typeface="Arial"/>
                <a:cs typeface="Arial"/>
                <a:sym typeface="Arial"/>
              </a:rPr>
              <a:t>Loss Function</a:t>
            </a:r>
            <a:endParaRPr kumimoji="0" sz="1300" b="0" i="0" u="none" strike="noStrike" kern="0" cap="none" spc="0" normalizeH="0" baseline="0" noProof="0">
              <a:ln>
                <a:noFill/>
              </a:ln>
              <a:solidFill>
                <a:srgbClr val="000000"/>
              </a:solidFill>
              <a:effectLst/>
              <a:uLnTx/>
              <a:uFillTx/>
              <a:latin typeface="Arial"/>
              <a:cs typeface="Arial"/>
              <a:sym typeface="Arial"/>
            </a:endParaRPr>
          </a:p>
        </p:txBody>
      </p:sp>
      <p:sp>
        <p:nvSpPr>
          <p:cNvPr id="4" name="Google Shape;203;p7"/>
          <p:cNvSpPr/>
          <p:nvPr/>
        </p:nvSpPr>
        <p:spPr>
          <a:xfrm>
            <a:off x="1005840" y="1700784"/>
            <a:ext cx="2304288" cy="492216"/>
          </a:xfrm>
          <a:prstGeom prst="rect">
            <a:avLst/>
          </a:prstGeom>
          <a:noFill/>
          <a:ln>
            <a:noFill/>
          </a:ln>
        </p:spPr>
        <p:txBody>
          <a:bodyPr spcFirstLastPara="1" wrap="square" lIns="0" tIns="0" rIns="0" bIns="0" anchor="ctr" anchorCtr="0">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dirty="0" err="1">
                <a:ln>
                  <a:noFill/>
                </a:ln>
                <a:solidFill>
                  <a:srgbClr val="4B5563"/>
                </a:solidFill>
                <a:effectLst/>
                <a:uLnTx/>
                <a:uFillTx/>
                <a:latin typeface="Arial"/>
                <a:ea typeface="Arial"/>
                <a:cs typeface="Arial"/>
                <a:sym typeface="Arial"/>
              </a:rPr>
              <a:t>CrossEntropyLoss</a:t>
            </a:r>
            <a:endParaRPr kumimoji="0" sz="105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Standard for classification</a:t>
            </a:r>
            <a:endParaRPr kumimoji="0" sz="105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Combines log-</a:t>
            </a:r>
            <a:r>
              <a:rPr kumimoji="0" lang="en-US" sz="1050" b="0" i="0" u="none" strike="noStrike" kern="0" cap="none" spc="0" normalizeH="0" baseline="0" noProof="0" dirty="0" err="1">
                <a:ln>
                  <a:noFill/>
                </a:ln>
                <a:solidFill>
                  <a:srgbClr val="4B5563"/>
                </a:solidFill>
                <a:effectLst/>
                <a:uLnTx/>
                <a:uFillTx/>
                <a:latin typeface="Arial"/>
                <a:ea typeface="Arial"/>
                <a:cs typeface="Arial"/>
                <a:sym typeface="Arial"/>
              </a:rPr>
              <a:t>softmax</a:t>
            </a: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 + NLL</a:t>
            </a:r>
            <a:endParaRPr kumimoji="0" sz="1050" b="0" i="0" u="none" strike="noStrike" kern="0" cap="none" spc="0" normalizeH="0" baseline="0" noProof="0" dirty="0">
              <a:ln>
                <a:noFill/>
              </a:ln>
              <a:solidFill>
                <a:srgbClr val="000000"/>
              </a:solidFill>
              <a:effectLst/>
              <a:uLnTx/>
              <a:uFillTx/>
              <a:latin typeface="Arial"/>
              <a:cs typeface="Arial"/>
              <a:sym typeface="Arial"/>
            </a:endParaRPr>
          </a:p>
        </p:txBody>
      </p:sp>
      <p:sp>
        <p:nvSpPr>
          <p:cNvPr id="5" name="Google Shape;204;p7"/>
          <p:cNvSpPr/>
          <p:nvPr/>
        </p:nvSpPr>
        <p:spPr>
          <a:xfrm>
            <a:off x="3611880" y="1234440"/>
            <a:ext cx="2651760" cy="1050000"/>
          </a:xfrm>
          <a:prstGeom prst="roundRect">
            <a:avLst>
              <a:gd name="adj" fmla="val 4800"/>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 name="Google Shape;205;p7"/>
          <p:cNvSpPr/>
          <p:nvPr/>
        </p:nvSpPr>
        <p:spPr>
          <a:xfrm>
            <a:off x="3611880" y="1234440"/>
            <a:ext cx="73152" cy="1050000"/>
          </a:xfrm>
          <a:prstGeom prst="rect">
            <a:avLst/>
          </a:prstGeom>
          <a:solidFill>
            <a:srgbClr val="0EA5A4"/>
          </a:solidFill>
          <a:ln w="12700" cap="flat" cmpd="sng">
            <a:solidFill>
              <a:srgbClr val="0EA5A4"/>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6" name="Google Shape;206;p7"/>
          <p:cNvSpPr/>
          <p:nvPr/>
        </p:nvSpPr>
        <p:spPr>
          <a:xfrm>
            <a:off x="3886200" y="1380744"/>
            <a:ext cx="2304288"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300" b="1" i="0" u="none" strike="noStrike" kern="0" cap="none" spc="0" normalizeH="0" baseline="0" noProof="0">
                <a:ln>
                  <a:noFill/>
                </a:ln>
                <a:solidFill>
                  <a:srgbClr val="1F2A44"/>
                </a:solidFill>
                <a:effectLst/>
                <a:uLnTx/>
                <a:uFillTx/>
                <a:latin typeface="Arial"/>
                <a:ea typeface="Arial"/>
                <a:cs typeface="Arial"/>
                <a:sym typeface="Arial"/>
              </a:rPr>
              <a:t>Optimizer</a:t>
            </a:r>
            <a:endParaRPr kumimoji="0" sz="1300" b="0" i="0" u="none" strike="noStrike" kern="0" cap="none" spc="0" normalizeH="0" baseline="0" noProof="0">
              <a:ln>
                <a:noFill/>
              </a:ln>
              <a:solidFill>
                <a:srgbClr val="000000"/>
              </a:solidFill>
              <a:effectLst/>
              <a:uLnTx/>
              <a:uFillTx/>
              <a:latin typeface="Arial"/>
              <a:cs typeface="Arial"/>
              <a:sym typeface="Arial"/>
            </a:endParaRPr>
          </a:p>
        </p:txBody>
      </p:sp>
      <p:sp>
        <p:nvSpPr>
          <p:cNvPr id="207" name="Google Shape;207;p7"/>
          <p:cNvSpPr/>
          <p:nvPr/>
        </p:nvSpPr>
        <p:spPr>
          <a:xfrm>
            <a:off x="3886200" y="1700784"/>
            <a:ext cx="2304288" cy="492216"/>
          </a:xfrm>
          <a:prstGeom prst="rect">
            <a:avLst/>
          </a:prstGeom>
          <a:noFill/>
          <a:ln>
            <a:noFill/>
          </a:ln>
        </p:spPr>
        <p:txBody>
          <a:bodyPr spcFirstLastPara="1" wrap="square" lIns="0" tIns="0" rIns="0" bIns="0" anchor="ctr" anchorCtr="0">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a:ln>
                  <a:noFill/>
                </a:ln>
                <a:solidFill>
                  <a:srgbClr val="4B5563"/>
                </a:solidFill>
                <a:effectLst/>
                <a:uLnTx/>
                <a:uFillTx/>
                <a:latin typeface="Arial"/>
                <a:ea typeface="Arial"/>
                <a:cs typeface="Arial"/>
                <a:sym typeface="Arial"/>
              </a:rPr>
              <a:t>Adam</a:t>
            </a:r>
            <a:endParaRPr kumimoji="0" sz="105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a:ln>
                  <a:noFill/>
                </a:ln>
                <a:solidFill>
                  <a:srgbClr val="4B5563"/>
                </a:solidFill>
                <a:effectLst/>
                <a:uLnTx/>
                <a:uFillTx/>
                <a:latin typeface="Arial"/>
                <a:ea typeface="Arial"/>
                <a:cs typeface="Arial"/>
                <a:sym typeface="Arial"/>
              </a:rPr>
              <a:t>Adapts LR per-parameter</a:t>
            </a:r>
            <a:endParaRPr kumimoji="0" sz="105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a:ln>
                  <a:noFill/>
                </a:ln>
                <a:solidFill>
                  <a:srgbClr val="4B5563"/>
                </a:solidFill>
                <a:effectLst/>
                <a:uLnTx/>
                <a:uFillTx/>
                <a:latin typeface="Arial"/>
                <a:ea typeface="Arial"/>
                <a:cs typeface="Arial"/>
                <a:sym typeface="Arial"/>
              </a:rPr>
              <a:t>weight_decay = 1e-4 (L2 reg)</a:t>
            </a: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208" name="Google Shape;208;p7"/>
          <p:cNvSpPr/>
          <p:nvPr/>
        </p:nvSpPr>
        <p:spPr>
          <a:xfrm>
            <a:off x="6492240" y="1234440"/>
            <a:ext cx="2651760" cy="1050000"/>
          </a:xfrm>
          <a:prstGeom prst="roundRect">
            <a:avLst>
              <a:gd name="adj" fmla="val 4800"/>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9" name="Google Shape;209;p7"/>
          <p:cNvSpPr/>
          <p:nvPr/>
        </p:nvSpPr>
        <p:spPr>
          <a:xfrm>
            <a:off x="6492240" y="1234440"/>
            <a:ext cx="73152" cy="1050000"/>
          </a:xfrm>
          <a:prstGeom prst="rect">
            <a:avLst/>
          </a:prstGeom>
          <a:solidFill>
            <a:srgbClr val="6D5DFD"/>
          </a:solidFill>
          <a:ln w="12700" cap="flat" cmpd="sng">
            <a:solidFill>
              <a:srgbClr val="6D5DFD"/>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 name="Google Shape;210;p7"/>
          <p:cNvSpPr/>
          <p:nvPr/>
        </p:nvSpPr>
        <p:spPr>
          <a:xfrm>
            <a:off x="6766560" y="1380744"/>
            <a:ext cx="2304288"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300" b="1" i="0" u="none" strike="noStrike" kern="0" cap="none" spc="0" normalizeH="0" baseline="0" noProof="0">
                <a:ln>
                  <a:noFill/>
                </a:ln>
                <a:solidFill>
                  <a:srgbClr val="1F2A44"/>
                </a:solidFill>
                <a:effectLst/>
                <a:uLnTx/>
                <a:uFillTx/>
                <a:latin typeface="Arial"/>
                <a:ea typeface="Arial"/>
                <a:cs typeface="Arial"/>
                <a:sym typeface="Arial"/>
              </a:rPr>
              <a:t>Regularization</a:t>
            </a:r>
            <a:endParaRPr kumimoji="0" sz="1300" b="0" i="0" u="none" strike="noStrike" kern="0" cap="none" spc="0" normalizeH="0" baseline="0" noProof="0">
              <a:ln>
                <a:noFill/>
              </a:ln>
              <a:solidFill>
                <a:srgbClr val="000000"/>
              </a:solidFill>
              <a:effectLst/>
              <a:uLnTx/>
              <a:uFillTx/>
              <a:latin typeface="Arial"/>
              <a:cs typeface="Arial"/>
              <a:sym typeface="Arial"/>
            </a:endParaRPr>
          </a:p>
        </p:txBody>
      </p:sp>
      <p:sp>
        <p:nvSpPr>
          <p:cNvPr id="211" name="Google Shape;211;p7"/>
          <p:cNvSpPr/>
          <p:nvPr/>
        </p:nvSpPr>
        <p:spPr>
          <a:xfrm>
            <a:off x="6766560" y="1700784"/>
            <a:ext cx="2304288" cy="492216"/>
          </a:xfrm>
          <a:prstGeom prst="rect">
            <a:avLst/>
          </a:prstGeom>
          <a:noFill/>
          <a:ln>
            <a:noFill/>
          </a:ln>
        </p:spPr>
        <p:txBody>
          <a:bodyPr spcFirstLastPara="1" wrap="square" lIns="0" tIns="0" rIns="0" bIns="0" anchor="ctr" anchorCtr="0">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a:ln>
                  <a:noFill/>
                </a:ln>
                <a:solidFill>
                  <a:srgbClr val="4B5563"/>
                </a:solidFill>
                <a:effectLst/>
                <a:uLnTx/>
                <a:uFillTx/>
                <a:latin typeface="Arial"/>
                <a:ea typeface="Arial"/>
                <a:cs typeface="Arial"/>
                <a:sym typeface="Arial"/>
              </a:rPr>
              <a:t>Dropout p = 0.3</a:t>
            </a:r>
            <a:endParaRPr kumimoji="0" sz="105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a:ln>
                  <a:noFill/>
                </a:ln>
                <a:solidFill>
                  <a:srgbClr val="4B5563"/>
                </a:solidFill>
                <a:effectLst/>
                <a:uLnTx/>
                <a:uFillTx/>
                <a:latin typeface="Arial"/>
                <a:ea typeface="Arial"/>
                <a:cs typeface="Arial"/>
                <a:sym typeface="Arial"/>
              </a:rPr>
              <a:t>L2 weight decay = 1e-4</a:t>
            </a:r>
            <a:endParaRPr kumimoji="0" sz="105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a:ln>
                  <a:noFill/>
                </a:ln>
                <a:solidFill>
                  <a:srgbClr val="4B5563"/>
                </a:solidFill>
                <a:effectLst/>
                <a:uLnTx/>
                <a:uFillTx/>
                <a:latin typeface="Arial"/>
                <a:ea typeface="Arial"/>
                <a:cs typeface="Arial"/>
                <a:sym typeface="Arial"/>
              </a:rPr>
              <a:t>Prevents overfitting on head</a:t>
            </a: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212" name="Google Shape;212;p7"/>
          <p:cNvSpPr/>
          <p:nvPr/>
        </p:nvSpPr>
        <p:spPr>
          <a:xfrm>
            <a:off x="9372600" y="1234440"/>
            <a:ext cx="2103120" cy="1050000"/>
          </a:xfrm>
          <a:prstGeom prst="roundRect">
            <a:avLst>
              <a:gd name="adj" fmla="val 4800"/>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 name="Google Shape;213;p7"/>
          <p:cNvSpPr/>
          <p:nvPr/>
        </p:nvSpPr>
        <p:spPr>
          <a:xfrm>
            <a:off x="9372600" y="1234440"/>
            <a:ext cx="73152" cy="1050000"/>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4" name="Google Shape;214;p7"/>
          <p:cNvSpPr/>
          <p:nvPr/>
        </p:nvSpPr>
        <p:spPr>
          <a:xfrm>
            <a:off x="9646920" y="1380744"/>
            <a:ext cx="1755648"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300" b="1" i="0" u="none" strike="noStrike" kern="0" cap="none" spc="0" normalizeH="0" baseline="0" noProof="0">
                <a:ln>
                  <a:noFill/>
                </a:ln>
                <a:solidFill>
                  <a:srgbClr val="1F2A44"/>
                </a:solidFill>
                <a:effectLst/>
                <a:uLnTx/>
                <a:uFillTx/>
                <a:latin typeface="Arial"/>
                <a:ea typeface="Arial"/>
                <a:cs typeface="Arial"/>
                <a:sym typeface="Arial"/>
              </a:rPr>
              <a:t>LR Scheduler</a:t>
            </a:r>
            <a:endParaRPr kumimoji="0" sz="1300" b="0" i="0" u="none" strike="noStrike" kern="0" cap="none" spc="0" normalizeH="0" baseline="0" noProof="0">
              <a:ln>
                <a:noFill/>
              </a:ln>
              <a:solidFill>
                <a:srgbClr val="000000"/>
              </a:solidFill>
              <a:effectLst/>
              <a:uLnTx/>
              <a:uFillTx/>
              <a:latin typeface="Arial"/>
              <a:cs typeface="Arial"/>
              <a:sym typeface="Arial"/>
            </a:endParaRPr>
          </a:p>
        </p:txBody>
      </p:sp>
      <p:sp>
        <p:nvSpPr>
          <p:cNvPr id="215" name="Google Shape;215;p7"/>
          <p:cNvSpPr/>
          <p:nvPr/>
        </p:nvSpPr>
        <p:spPr>
          <a:xfrm>
            <a:off x="9646920" y="1700784"/>
            <a:ext cx="1755648" cy="492216"/>
          </a:xfrm>
          <a:prstGeom prst="rect">
            <a:avLst/>
          </a:prstGeom>
          <a:noFill/>
          <a:ln>
            <a:noFill/>
          </a:ln>
        </p:spPr>
        <p:txBody>
          <a:bodyPr spcFirstLastPara="1" wrap="square" lIns="0" tIns="0" rIns="0" bIns="0" anchor="ctr" anchorCtr="0">
            <a:normAutofit fontScale="92500"/>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dirty="0" err="1">
                <a:ln>
                  <a:noFill/>
                </a:ln>
                <a:solidFill>
                  <a:srgbClr val="4B5563"/>
                </a:solidFill>
                <a:effectLst/>
                <a:uLnTx/>
                <a:uFillTx/>
                <a:latin typeface="Arial"/>
                <a:ea typeface="Arial"/>
                <a:cs typeface="Arial"/>
                <a:sym typeface="Arial"/>
              </a:rPr>
              <a:t>ReduceLROnPlateau</a:t>
            </a:r>
            <a:endParaRPr kumimoji="0" sz="105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factor = 0.5, patience = 2</a:t>
            </a:r>
            <a:endParaRPr kumimoji="0" sz="105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Halves LR when </a:t>
            </a:r>
            <a:r>
              <a:rPr kumimoji="0" lang="en-US" sz="1050" b="0" i="0" u="none" strike="noStrike" kern="0" cap="none" spc="0" normalizeH="0" baseline="0" noProof="0" dirty="0" err="1">
                <a:ln>
                  <a:noFill/>
                </a:ln>
                <a:solidFill>
                  <a:srgbClr val="4B5563"/>
                </a:solidFill>
                <a:effectLst/>
                <a:uLnTx/>
                <a:uFillTx/>
                <a:latin typeface="Arial"/>
                <a:ea typeface="Arial"/>
                <a:cs typeface="Arial"/>
                <a:sym typeface="Arial"/>
              </a:rPr>
              <a:t>val</a:t>
            </a: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 acc stalls</a:t>
            </a:r>
            <a:endParaRPr kumimoji="0" sz="1050" b="0" i="0" u="none" strike="noStrike" kern="0" cap="none" spc="0" normalizeH="0" baseline="0" noProof="0" dirty="0">
              <a:ln>
                <a:noFill/>
              </a:ln>
              <a:solidFill>
                <a:srgbClr val="000000"/>
              </a:solidFill>
              <a:effectLst/>
              <a:uLnTx/>
              <a:uFillTx/>
              <a:latin typeface="Arial"/>
              <a:cs typeface="Arial"/>
              <a:sym typeface="Arial"/>
            </a:endParaRPr>
          </a:p>
        </p:txBody>
      </p:sp>
      <p:sp>
        <p:nvSpPr>
          <p:cNvPr id="216" name="Google Shape;216;p7"/>
          <p:cNvSpPr/>
          <p:nvPr/>
        </p:nvSpPr>
        <p:spPr>
          <a:xfrm>
            <a:off x="731520" y="2484440"/>
            <a:ext cx="5214120" cy="1828408"/>
          </a:xfrm>
          <a:prstGeom prst="roundRect">
            <a:avLst>
              <a:gd name="adj" fmla="val 4800"/>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7" name="Google Shape;217;p7"/>
          <p:cNvSpPr/>
          <p:nvPr/>
        </p:nvSpPr>
        <p:spPr>
          <a:xfrm>
            <a:off x="731520" y="2484440"/>
            <a:ext cx="73152" cy="1828408"/>
          </a:xfrm>
          <a:prstGeom prst="rect">
            <a:avLst/>
          </a:prstGeom>
          <a:solidFill>
            <a:srgbClr val="2F6BFF"/>
          </a:solidFill>
          <a:ln w="12700" cap="flat" cmpd="sng">
            <a:solidFill>
              <a:srgbClr val="2F6B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8" name="Google Shape;218;p7"/>
          <p:cNvSpPr/>
          <p:nvPr/>
        </p:nvSpPr>
        <p:spPr>
          <a:xfrm>
            <a:off x="1005840" y="2630744"/>
            <a:ext cx="4866648"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300" b="1" i="0" u="none" strike="noStrike" kern="0" cap="none" spc="0" normalizeH="0" baseline="0" noProof="0">
                <a:ln>
                  <a:noFill/>
                </a:ln>
                <a:solidFill>
                  <a:srgbClr val="1F2A44"/>
                </a:solidFill>
                <a:effectLst/>
                <a:uLnTx/>
                <a:uFillTx/>
                <a:latin typeface="Arial"/>
                <a:ea typeface="Arial"/>
                <a:cs typeface="Arial"/>
                <a:sym typeface="Arial"/>
              </a:rPr>
              <a:t>Experiment 1 — Frozen Baseline</a:t>
            </a:r>
            <a:endParaRPr kumimoji="0" sz="1300" b="0" i="0" u="none" strike="noStrike" kern="0" cap="none" spc="0" normalizeH="0" baseline="0" noProof="0">
              <a:ln>
                <a:noFill/>
              </a:ln>
              <a:solidFill>
                <a:srgbClr val="000000"/>
              </a:solidFill>
              <a:effectLst/>
              <a:uLnTx/>
              <a:uFillTx/>
              <a:latin typeface="Arial"/>
              <a:cs typeface="Arial"/>
              <a:sym typeface="Arial"/>
            </a:endParaRPr>
          </a:p>
        </p:txBody>
      </p:sp>
      <p:sp>
        <p:nvSpPr>
          <p:cNvPr id="219" name="Google Shape;219;p7"/>
          <p:cNvSpPr/>
          <p:nvPr/>
        </p:nvSpPr>
        <p:spPr>
          <a:xfrm>
            <a:off x="1005840" y="2950784"/>
            <a:ext cx="4866648" cy="1362064"/>
          </a:xfrm>
          <a:prstGeom prst="rect">
            <a:avLst/>
          </a:prstGeom>
          <a:noFill/>
          <a:ln>
            <a:noFill/>
          </a:ln>
        </p:spPr>
        <p:txBody>
          <a:bodyPr spcFirstLastPara="1" wrap="square" lIns="0" tIns="0" rIns="0" bIns="0" anchor="ctr" anchorCtr="0">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Epochs: 10   |   LR: 1e-3</a:t>
            </a:r>
            <a:endParaRPr kumimoji="0" sz="105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Frozen backbone (head only)</a:t>
            </a:r>
            <a:endParaRPr kumimoji="0" sz="105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Trainable params: 2,562</a:t>
            </a:r>
            <a:endParaRPr kumimoji="0" sz="105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Best </a:t>
            </a:r>
            <a:r>
              <a:rPr kumimoji="0" lang="en-US" sz="1050" b="0" i="0" u="none" strike="noStrike" kern="0" cap="none" spc="0" normalizeH="0" baseline="0" noProof="0" dirty="0" err="1">
                <a:ln>
                  <a:noFill/>
                </a:ln>
                <a:solidFill>
                  <a:srgbClr val="4B5563"/>
                </a:solidFill>
                <a:effectLst/>
                <a:uLnTx/>
                <a:uFillTx/>
                <a:latin typeface="Arial"/>
                <a:ea typeface="Arial"/>
                <a:cs typeface="Arial"/>
                <a:sym typeface="Arial"/>
              </a:rPr>
              <a:t>val</a:t>
            </a: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 accuracy: 88.75%</a:t>
            </a:r>
            <a:endParaRPr kumimoji="0" sz="105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Final train loss: 0.2857</a:t>
            </a:r>
            <a:endParaRPr kumimoji="0" sz="1050" b="0" i="0" u="none" strike="noStrike" kern="0" cap="none" spc="0" normalizeH="0" baseline="0" noProof="0" dirty="0">
              <a:ln>
                <a:noFill/>
              </a:ln>
              <a:solidFill>
                <a:srgbClr val="000000"/>
              </a:solidFill>
              <a:effectLst/>
              <a:uLnTx/>
              <a:uFillTx/>
              <a:latin typeface="Arial"/>
              <a:cs typeface="Arial"/>
              <a:sym typeface="Arial"/>
            </a:endParaRPr>
          </a:p>
        </p:txBody>
      </p:sp>
      <p:sp>
        <p:nvSpPr>
          <p:cNvPr id="220" name="Google Shape;220;p7"/>
          <p:cNvSpPr/>
          <p:nvPr/>
        </p:nvSpPr>
        <p:spPr>
          <a:xfrm>
            <a:off x="6173640" y="2484440"/>
            <a:ext cx="5286480" cy="1828408"/>
          </a:xfrm>
          <a:prstGeom prst="roundRect">
            <a:avLst>
              <a:gd name="adj" fmla="val 4800"/>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1" name="Google Shape;221;p7"/>
          <p:cNvSpPr/>
          <p:nvPr/>
        </p:nvSpPr>
        <p:spPr>
          <a:xfrm>
            <a:off x="6173640" y="2484440"/>
            <a:ext cx="90000" cy="1828408"/>
          </a:xfrm>
          <a:prstGeom prst="rect">
            <a:avLst/>
          </a:prstGeom>
          <a:solidFill>
            <a:srgbClr val="0EA5A4"/>
          </a:solidFill>
          <a:ln w="12700" cap="flat" cmpd="sng">
            <a:solidFill>
              <a:srgbClr val="0EA5A4"/>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2" name="Google Shape;222;p7"/>
          <p:cNvSpPr/>
          <p:nvPr/>
        </p:nvSpPr>
        <p:spPr>
          <a:xfrm>
            <a:off x="6447960" y="2630744"/>
            <a:ext cx="4939008"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300" b="1" i="0" u="none" strike="noStrike" kern="0" cap="none" spc="0" normalizeH="0" baseline="0" noProof="0">
                <a:ln>
                  <a:noFill/>
                </a:ln>
                <a:solidFill>
                  <a:srgbClr val="1F2A44"/>
                </a:solidFill>
                <a:effectLst/>
                <a:uLnTx/>
                <a:uFillTx/>
                <a:latin typeface="Arial"/>
                <a:ea typeface="Arial"/>
                <a:cs typeface="Arial"/>
                <a:sym typeface="Arial"/>
              </a:rPr>
              <a:t>Experiment 2 — Fine-Tuning (Winner)</a:t>
            </a:r>
            <a:endParaRPr kumimoji="0" sz="1300" b="0" i="0" u="none" strike="noStrike" kern="0" cap="none" spc="0" normalizeH="0" baseline="0" noProof="0">
              <a:ln>
                <a:noFill/>
              </a:ln>
              <a:solidFill>
                <a:srgbClr val="000000"/>
              </a:solidFill>
              <a:effectLst/>
              <a:uLnTx/>
              <a:uFillTx/>
              <a:latin typeface="Arial"/>
              <a:cs typeface="Arial"/>
              <a:sym typeface="Arial"/>
            </a:endParaRPr>
          </a:p>
        </p:txBody>
      </p:sp>
      <p:sp>
        <p:nvSpPr>
          <p:cNvPr id="223" name="Google Shape;223;p7"/>
          <p:cNvSpPr/>
          <p:nvPr/>
        </p:nvSpPr>
        <p:spPr>
          <a:xfrm>
            <a:off x="6447960" y="2950784"/>
            <a:ext cx="5027760" cy="1362064"/>
          </a:xfrm>
          <a:prstGeom prst="rect">
            <a:avLst/>
          </a:prstGeom>
          <a:noFill/>
          <a:ln>
            <a:noFill/>
          </a:ln>
        </p:spPr>
        <p:txBody>
          <a:bodyPr spcFirstLastPara="1" wrap="square" lIns="0" tIns="0" rIns="0" bIns="0" anchor="ctr" anchorCtr="0">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Epochs: 10   |   LR: 1e-4</a:t>
            </a:r>
            <a:endParaRPr kumimoji="0" sz="105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Unfroze last 2 backbone blocks</a:t>
            </a:r>
            <a:endParaRPr kumimoji="0" sz="105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Trainable params: 1,131,954</a:t>
            </a:r>
            <a:endParaRPr kumimoji="0" sz="105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Started from Exp 1 best weights</a:t>
            </a:r>
            <a:endParaRPr kumimoji="0" sz="105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Best </a:t>
            </a:r>
            <a:r>
              <a:rPr kumimoji="0" lang="en-US" sz="1050" b="0" i="0" u="none" strike="noStrike" kern="0" cap="none" spc="0" normalizeH="0" baseline="0" noProof="0" dirty="0" err="1">
                <a:ln>
                  <a:noFill/>
                </a:ln>
                <a:solidFill>
                  <a:srgbClr val="4B5563"/>
                </a:solidFill>
                <a:effectLst/>
                <a:uLnTx/>
                <a:uFillTx/>
                <a:latin typeface="Arial"/>
                <a:ea typeface="Arial"/>
                <a:cs typeface="Arial"/>
                <a:sym typeface="Arial"/>
              </a:rPr>
              <a:t>val</a:t>
            </a: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 accuracy: 93.86%  ← Winner</a:t>
            </a:r>
            <a:endParaRPr kumimoji="0" sz="105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Final train loss: 0.0905</a:t>
            </a:r>
            <a:endParaRPr kumimoji="0" sz="1050" b="0" i="0" u="none" strike="noStrike" kern="0" cap="none" spc="0" normalizeH="0" baseline="0" noProof="0" dirty="0">
              <a:ln>
                <a:noFill/>
              </a:ln>
              <a:solidFill>
                <a:srgbClr val="000000"/>
              </a:solidFill>
              <a:effectLst/>
              <a:uLnTx/>
              <a:uFillTx/>
              <a:latin typeface="Arial"/>
              <a:cs typeface="Arial"/>
              <a:sym typeface="Arial"/>
            </a:endParaRPr>
          </a:p>
        </p:txBody>
      </p:sp>
      <p:pic>
        <p:nvPicPr>
          <p:cNvPr id="10" name="Picture 9">
            <a:extLst>
              <a:ext uri="{FF2B5EF4-FFF2-40B4-BE49-F238E27FC236}">
                <a16:creationId xmlns:a16="http://schemas.microsoft.com/office/drawing/2014/main" id="{424B686F-7961-EF10-9AA2-AF97F46330D8}"/>
              </a:ext>
            </a:extLst>
          </p:cNvPr>
          <p:cNvPicPr>
            <a:picLocks noChangeAspect="1"/>
          </p:cNvPicPr>
          <p:nvPr/>
        </p:nvPicPr>
        <p:blipFill>
          <a:blip r:embed="rId3"/>
          <a:stretch>
            <a:fillRect/>
          </a:stretch>
        </p:blipFill>
        <p:spPr>
          <a:xfrm>
            <a:off x="580801" y="4404288"/>
            <a:ext cx="5458654" cy="1679586"/>
          </a:xfrm>
          <a:prstGeom prst="rect">
            <a:avLst/>
          </a:prstGeom>
        </p:spPr>
      </p:pic>
      <p:pic>
        <p:nvPicPr>
          <p:cNvPr id="12" name="Picture 11">
            <a:extLst>
              <a:ext uri="{FF2B5EF4-FFF2-40B4-BE49-F238E27FC236}">
                <a16:creationId xmlns:a16="http://schemas.microsoft.com/office/drawing/2014/main" id="{D24E1FDC-FE13-F847-AD69-A3F9A055B97A}"/>
              </a:ext>
            </a:extLst>
          </p:cNvPr>
          <p:cNvPicPr>
            <a:picLocks noChangeAspect="1"/>
          </p:cNvPicPr>
          <p:nvPr/>
        </p:nvPicPr>
        <p:blipFill>
          <a:blip r:embed="rId4"/>
          <a:stretch>
            <a:fillRect/>
          </a:stretch>
        </p:blipFill>
        <p:spPr>
          <a:xfrm>
            <a:off x="6087553" y="4404288"/>
            <a:ext cx="5458654" cy="167958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0"/>
        <p:cNvGrpSpPr/>
        <p:nvPr/>
      </p:nvGrpSpPr>
      <p:grpSpPr>
        <a:xfrm>
          <a:off x="0" y="0"/>
          <a:ext cx="0" cy="0"/>
          <a:chOff x="0" y="0"/>
          <a:chExt cx="0" cy="0"/>
        </a:xfrm>
      </p:grpSpPr>
      <p:sp>
        <p:nvSpPr>
          <p:cNvPr id="501" name="Google Shape;501;p8"/>
          <p:cNvSpPr/>
          <p:nvPr/>
        </p:nvSpPr>
        <p:spPr>
          <a:xfrm>
            <a:off x="0" y="0"/>
            <a:ext cx="12191695" cy="164592"/>
          </a:xfrm>
          <a:prstGeom prst="rect">
            <a:avLst/>
          </a:prstGeom>
          <a:solidFill>
            <a:srgbClr val="2F6BFF"/>
          </a:solidFill>
          <a:ln w="12700" cap="flat" cmpd="sng">
            <a:solidFill>
              <a:srgbClr val="2F6B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2" name="Google Shape;502;p8"/>
          <p:cNvSpPr/>
          <p:nvPr/>
        </p:nvSpPr>
        <p:spPr>
          <a:xfrm>
            <a:off x="0" y="6547104"/>
            <a:ext cx="12191695" cy="310896"/>
          </a:xfrm>
          <a:prstGeom prst="rect">
            <a:avLst/>
          </a:prstGeom>
          <a:solidFill>
            <a:srgbClr val="1F2A44"/>
          </a:solidFill>
          <a:ln w="12700" cap="flat" cmpd="sng">
            <a:solidFill>
              <a:srgbClr val="1F2A44"/>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3" name="Google Shape;503;p8"/>
          <p:cNvSpPr/>
          <p:nvPr/>
        </p:nvSpPr>
        <p:spPr>
          <a:xfrm>
            <a:off x="502920" y="411480"/>
            <a:ext cx="10881360" cy="475488"/>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700" b="1" i="0" u="none" strike="noStrike" kern="0" cap="none" spc="0" normalizeH="0" baseline="0" noProof="0">
                <a:ln>
                  <a:noFill/>
                </a:ln>
                <a:solidFill>
                  <a:srgbClr val="1F2A44"/>
                </a:solidFill>
                <a:effectLst/>
                <a:uLnTx/>
                <a:uFillTx/>
                <a:latin typeface="Play"/>
                <a:ea typeface="Play"/>
                <a:cs typeface="Play"/>
                <a:sym typeface="Play"/>
              </a:rPr>
              <a:t>Video-Level Prediction</a:t>
            </a:r>
            <a:endParaRPr kumimoji="0" sz="2700" b="0" i="0" u="none" strike="noStrike" kern="0" cap="none" spc="0" normalizeH="0" baseline="0" noProof="0">
              <a:ln>
                <a:noFill/>
              </a:ln>
              <a:solidFill>
                <a:srgbClr val="000000"/>
              </a:solidFill>
              <a:effectLst/>
              <a:uLnTx/>
              <a:uFillTx/>
              <a:latin typeface="Arial"/>
              <a:cs typeface="Arial"/>
              <a:sym typeface="Arial"/>
            </a:endParaRPr>
          </a:p>
        </p:txBody>
      </p:sp>
      <p:sp>
        <p:nvSpPr>
          <p:cNvPr id="504" name="Google Shape;504;p8"/>
          <p:cNvSpPr/>
          <p:nvPr/>
        </p:nvSpPr>
        <p:spPr>
          <a:xfrm>
            <a:off x="530352" y="941832"/>
            <a:ext cx="10698480" cy="292608"/>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6B7280"/>
                </a:solidFill>
                <a:effectLst/>
                <a:uLnTx/>
                <a:uFillTx/>
                <a:latin typeface="Arial"/>
                <a:ea typeface="Arial"/>
                <a:cs typeface="Arial"/>
                <a:sym typeface="Arial"/>
              </a:rPr>
              <a:t>Aggregating per-frame predictions into a single verdict for each video</a:t>
            </a:r>
            <a:endParaRPr kumimoji="0" sz="1100" b="0" i="0" u="none" strike="noStrike" kern="0" cap="none" spc="0" normalizeH="0" baseline="0" noProof="0">
              <a:ln>
                <a:noFill/>
              </a:ln>
              <a:solidFill>
                <a:srgbClr val="000000"/>
              </a:solidFill>
              <a:effectLst/>
              <a:uLnTx/>
              <a:uFillTx/>
              <a:latin typeface="Arial"/>
              <a:cs typeface="Arial"/>
              <a:sym typeface="Arial"/>
            </a:endParaRPr>
          </a:p>
        </p:txBody>
      </p:sp>
      <p:sp>
        <p:nvSpPr>
          <p:cNvPr id="506" name="Google Shape;506;p8"/>
          <p:cNvSpPr/>
          <p:nvPr/>
        </p:nvSpPr>
        <p:spPr>
          <a:xfrm>
            <a:off x="731520" y="1234440"/>
            <a:ext cx="2651760" cy="1400000"/>
          </a:xfrm>
          <a:prstGeom prst="roundRect">
            <a:avLst>
              <a:gd name="adj" fmla="val 4800"/>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7" name="Google Shape;507;p8"/>
          <p:cNvSpPr/>
          <p:nvPr/>
        </p:nvSpPr>
        <p:spPr>
          <a:xfrm>
            <a:off x="731520" y="1234440"/>
            <a:ext cx="73152" cy="1400000"/>
          </a:xfrm>
          <a:prstGeom prst="rect">
            <a:avLst/>
          </a:prstGeom>
          <a:solidFill>
            <a:srgbClr val="2F6BFF"/>
          </a:solidFill>
          <a:ln w="12700" cap="flat" cmpd="sng">
            <a:solidFill>
              <a:srgbClr val="2F6B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8" name="Google Shape;508;p8"/>
          <p:cNvSpPr/>
          <p:nvPr/>
        </p:nvSpPr>
        <p:spPr>
          <a:xfrm>
            <a:off x="731520" y="1234440"/>
            <a:ext cx="73152" cy="14000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FFFFFF"/>
                </a:solidFill>
                <a:effectLst/>
                <a:uLnTx/>
                <a:uFillTx/>
                <a:latin typeface="Play"/>
                <a:ea typeface="Play"/>
                <a:cs typeface="Play"/>
                <a:sym typeface="Play"/>
              </a:rPr>
              <a:t>1</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9" name="Google Shape;509;p8"/>
          <p:cNvSpPr/>
          <p:nvPr/>
        </p:nvSpPr>
        <p:spPr>
          <a:xfrm>
            <a:off x="1005840" y="1380744"/>
            <a:ext cx="2304288"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300" b="1" i="0" u="none" strike="noStrike" kern="0" cap="none" spc="0" normalizeH="0" baseline="0" noProof="0">
                <a:ln>
                  <a:noFill/>
                </a:ln>
                <a:solidFill>
                  <a:srgbClr val="1F2A44"/>
                </a:solidFill>
                <a:effectLst/>
                <a:uLnTx/>
                <a:uFillTx/>
                <a:latin typeface="Arial"/>
                <a:ea typeface="Arial"/>
                <a:cs typeface="Arial"/>
                <a:sym typeface="Arial"/>
              </a:rPr>
              <a:t>Video split into frames</a:t>
            </a:r>
            <a:endParaRPr kumimoji="0" sz="1300" b="0" i="0" u="none" strike="noStrike" kern="0" cap="none" spc="0" normalizeH="0" baseline="0" noProof="0">
              <a:ln>
                <a:noFill/>
              </a:ln>
              <a:solidFill>
                <a:srgbClr val="000000"/>
              </a:solidFill>
              <a:effectLst/>
              <a:uLnTx/>
              <a:uFillTx/>
              <a:latin typeface="Arial"/>
              <a:cs typeface="Arial"/>
              <a:sym typeface="Arial"/>
            </a:endParaRPr>
          </a:p>
        </p:txBody>
      </p:sp>
      <p:sp>
        <p:nvSpPr>
          <p:cNvPr id="510" name="Google Shape;510;p8"/>
          <p:cNvSpPr/>
          <p:nvPr/>
        </p:nvSpPr>
        <p:spPr>
          <a:xfrm>
            <a:off x="1005840" y="1700784"/>
            <a:ext cx="2304288" cy="842216"/>
          </a:xfrm>
          <a:prstGeom prst="rect">
            <a:avLst/>
          </a:prstGeom>
          <a:noFill/>
          <a:ln>
            <a:noFill/>
          </a:ln>
        </p:spPr>
        <p:txBody>
          <a:bodyPr spcFirstLastPara="1" wrap="square" lIns="0" tIns="0" rIns="0" bIns="0" anchor="ctr" anchorCtr="0">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Each video produces ~30 face</a:t>
            </a:r>
            <a:endParaRPr kumimoji="0" sz="105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images during preprocessing.</a:t>
            </a:r>
            <a:endParaRPr kumimoji="0" sz="1050" b="0" i="0" u="none" strike="noStrike" kern="0" cap="none" spc="0" normalizeH="0" baseline="0" noProof="0" dirty="0">
              <a:ln>
                <a:noFill/>
              </a:ln>
              <a:solidFill>
                <a:srgbClr val="000000"/>
              </a:solidFill>
              <a:effectLst/>
              <a:uLnTx/>
              <a:uFillTx/>
              <a:latin typeface="Arial"/>
              <a:cs typeface="Arial"/>
              <a:sym typeface="Arial"/>
            </a:endParaRPr>
          </a:p>
        </p:txBody>
      </p:sp>
      <p:sp>
        <p:nvSpPr>
          <p:cNvPr id="511" name="Google Shape;511;p8"/>
          <p:cNvSpPr/>
          <p:nvPr/>
        </p:nvSpPr>
        <p:spPr>
          <a:xfrm>
            <a:off x="3397580" y="1834440"/>
            <a:ext cx="200000" cy="200000"/>
          </a:xfrm>
          <a:prstGeom prst="rightArrow">
            <a:avLst>
              <a:gd name="adj1" fmla="val 50000"/>
              <a:gd name="adj2" fmla="val 50000"/>
            </a:avLst>
          </a:prstGeom>
          <a:solidFill>
            <a:srgbClr val="2F6BFF"/>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2" name="Google Shape;512;p8"/>
          <p:cNvSpPr/>
          <p:nvPr/>
        </p:nvSpPr>
        <p:spPr>
          <a:xfrm>
            <a:off x="3611880" y="1234440"/>
            <a:ext cx="2651760" cy="1400000"/>
          </a:xfrm>
          <a:prstGeom prst="roundRect">
            <a:avLst>
              <a:gd name="adj" fmla="val 4800"/>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3" name="Google Shape;513;p8"/>
          <p:cNvSpPr/>
          <p:nvPr/>
        </p:nvSpPr>
        <p:spPr>
          <a:xfrm>
            <a:off x="3611880" y="1234440"/>
            <a:ext cx="73152" cy="1400000"/>
          </a:xfrm>
          <a:prstGeom prst="rect">
            <a:avLst/>
          </a:prstGeom>
          <a:solidFill>
            <a:srgbClr val="0EA5A4"/>
          </a:solidFill>
          <a:ln w="12700" cap="flat" cmpd="sng">
            <a:solidFill>
              <a:srgbClr val="0EA5A4"/>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4" name="Google Shape;514;p8"/>
          <p:cNvSpPr/>
          <p:nvPr/>
        </p:nvSpPr>
        <p:spPr>
          <a:xfrm>
            <a:off x="3611880" y="1234440"/>
            <a:ext cx="73152" cy="14000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FFFFFF"/>
                </a:solidFill>
                <a:effectLst/>
                <a:uLnTx/>
                <a:uFillTx/>
                <a:latin typeface="Play"/>
                <a:ea typeface="Play"/>
                <a:cs typeface="Play"/>
                <a:sym typeface="Play"/>
              </a:rPr>
              <a:t>2</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5" name="Google Shape;515;p8"/>
          <p:cNvSpPr/>
          <p:nvPr/>
        </p:nvSpPr>
        <p:spPr>
          <a:xfrm>
            <a:off x="3886200" y="1380744"/>
            <a:ext cx="2304288"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300" b="1" i="0" u="none" strike="noStrike" kern="0" cap="none" spc="0" normalizeH="0" baseline="0" noProof="0">
                <a:ln>
                  <a:noFill/>
                </a:ln>
                <a:solidFill>
                  <a:srgbClr val="1F2A44"/>
                </a:solidFill>
                <a:effectLst/>
                <a:uLnTx/>
                <a:uFillTx/>
                <a:latin typeface="Arial"/>
                <a:ea typeface="Arial"/>
                <a:cs typeface="Arial"/>
                <a:sym typeface="Arial"/>
              </a:rPr>
              <a:t>Model predicts each frame</a:t>
            </a:r>
            <a:endParaRPr kumimoji="0" sz="1300" b="0" i="0" u="none" strike="noStrike" kern="0" cap="none" spc="0" normalizeH="0" baseline="0" noProof="0">
              <a:ln>
                <a:noFill/>
              </a:ln>
              <a:solidFill>
                <a:srgbClr val="000000"/>
              </a:solidFill>
              <a:effectLst/>
              <a:uLnTx/>
              <a:uFillTx/>
              <a:latin typeface="Arial"/>
              <a:cs typeface="Arial"/>
              <a:sym typeface="Arial"/>
            </a:endParaRPr>
          </a:p>
        </p:txBody>
      </p:sp>
      <p:sp>
        <p:nvSpPr>
          <p:cNvPr id="516" name="Google Shape;516;p8"/>
          <p:cNvSpPr/>
          <p:nvPr/>
        </p:nvSpPr>
        <p:spPr>
          <a:xfrm>
            <a:off x="3886200" y="1700784"/>
            <a:ext cx="2304288" cy="842216"/>
          </a:xfrm>
          <a:prstGeom prst="rect">
            <a:avLst/>
          </a:prstGeom>
          <a:noFill/>
          <a:ln>
            <a:noFill/>
          </a:ln>
        </p:spPr>
        <p:txBody>
          <a:bodyPr spcFirstLastPara="1" wrap="square" lIns="0" tIns="0" rIns="0" bIns="0" anchor="ctr" anchorCtr="0">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a:ln>
                  <a:noFill/>
                </a:ln>
                <a:solidFill>
                  <a:srgbClr val="4B5563"/>
                </a:solidFill>
                <a:effectLst/>
                <a:uLnTx/>
                <a:uFillTx/>
                <a:latin typeface="Arial"/>
                <a:ea typeface="Arial"/>
                <a:cs typeface="Arial"/>
                <a:sym typeface="Arial"/>
              </a:rPr>
              <a:t>EfficientNet-B0 outputs 'fake'</a:t>
            </a:r>
            <a:endParaRPr kumimoji="0" sz="105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a:ln>
                  <a:noFill/>
                </a:ln>
                <a:solidFill>
                  <a:srgbClr val="4B5563"/>
                </a:solidFill>
                <a:effectLst/>
                <a:uLnTx/>
                <a:uFillTx/>
                <a:latin typeface="Arial"/>
                <a:ea typeface="Arial"/>
                <a:cs typeface="Arial"/>
                <a:sym typeface="Arial"/>
              </a:rPr>
              <a:t>or 'real' for every frame.</a:t>
            </a: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517" name="Google Shape;517;p8"/>
          <p:cNvSpPr/>
          <p:nvPr/>
        </p:nvSpPr>
        <p:spPr>
          <a:xfrm>
            <a:off x="6277940" y="1834440"/>
            <a:ext cx="200000" cy="200000"/>
          </a:xfrm>
          <a:prstGeom prst="rightArrow">
            <a:avLst>
              <a:gd name="adj1" fmla="val 50000"/>
              <a:gd name="adj2" fmla="val 50000"/>
            </a:avLst>
          </a:prstGeom>
          <a:solidFill>
            <a:srgbClr val="2F6BFF"/>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8" name="Google Shape;518;p8"/>
          <p:cNvSpPr/>
          <p:nvPr/>
        </p:nvSpPr>
        <p:spPr>
          <a:xfrm>
            <a:off x="6492240" y="1234440"/>
            <a:ext cx="2651760" cy="1400000"/>
          </a:xfrm>
          <a:prstGeom prst="roundRect">
            <a:avLst>
              <a:gd name="adj" fmla="val 4800"/>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9" name="Google Shape;519;p8"/>
          <p:cNvSpPr/>
          <p:nvPr/>
        </p:nvSpPr>
        <p:spPr>
          <a:xfrm>
            <a:off x="6492240" y="1234440"/>
            <a:ext cx="73152" cy="1400000"/>
          </a:xfrm>
          <a:prstGeom prst="rect">
            <a:avLst/>
          </a:prstGeom>
          <a:solidFill>
            <a:srgbClr val="6D5DFD"/>
          </a:solidFill>
          <a:ln w="12700" cap="flat" cmpd="sng">
            <a:solidFill>
              <a:srgbClr val="6D5DFD"/>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0" name="Google Shape;520;p8"/>
          <p:cNvSpPr/>
          <p:nvPr/>
        </p:nvSpPr>
        <p:spPr>
          <a:xfrm>
            <a:off x="6492240" y="1234440"/>
            <a:ext cx="73152" cy="14000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FFFFFF"/>
                </a:solidFill>
                <a:effectLst/>
                <a:uLnTx/>
                <a:uFillTx/>
                <a:latin typeface="Play"/>
                <a:ea typeface="Play"/>
                <a:cs typeface="Play"/>
                <a:sym typeface="Play"/>
              </a:rPr>
              <a:t>3</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1" name="Google Shape;521;p8"/>
          <p:cNvSpPr/>
          <p:nvPr/>
        </p:nvSpPr>
        <p:spPr>
          <a:xfrm>
            <a:off x="6766560" y="1380744"/>
            <a:ext cx="2304288"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300" b="1" i="0" u="none" strike="noStrike" kern="0" cap="none" spc="0" normalizeH="0" baseline="0" noProof="0">
                <a:ln>
                  <a:noFill/>
                </a:ln>
                <a:solidFill>
                  <a:srgbClr val="1F2A44"/>
                </a:solidFill>
                <a:effectLst/>
                <a:uLnTx/>
                <a:uFillTx/>
                <a:latin typeface="Arial"/>
                <a:ea typeface="Arial"/>
                <a:cs typeface="Arial"/>
                <a:sym typeface="Arial"/>
              </a:rPr>
              <a:t>Majority vote per video</a:t>
            </a:r>
            <a:endParaRPr kumimoji="0" sz="1300" b="0" i="0" u="none" strike="noStrike" kern="0" cap="none" spc="0" normalizeH="0" baseline="0" noProof="0">
              <a:ln>
                <a:noFill/>
              </a:ln>
              <a:solidFill>
                <a:srgbClr val="000000"/>
              </a:solidFill>
              <a:effectLst/>
              <a:uLnTx/>
              <a:uFillTx/>
              <a:latin typeface="Arial"/>
              <a:cs typeface="Arial"/>
              <a:sym typeface="Arial"/>
            </a:endParaRPr>
          </a:p>
        </p:txBody>
      </p:sp>
      <p:sp>
        <p:nvSpPr>
          <p:cNvPr id="522" name="Google Shape;522;p8"/>
          <p:cNvSpPr/>
          <p:nvPr/>
        </p:nvSpPr>
        <p:spPr>
          <a:xfrm>
            <a:off x="6766560" y="1700784"/>
            <a:ext cx="2304288" cy="842216"/>
          </a:xfrm>
          <a:prstGeom prst="rect">
            <a:avLst/>
          </a:prstGeom>
          <a:noFill/>
          <a:ln>
            <a:noFill/>
          </a:ln>
        </p:spPr>
        <p:txBody>
          <a:bodyPr spcFirstLastPara="1" wrap="square" lIns="0" tIns="0" rIns="0" bIns="0" anchor="ctr" anchorCtr="0">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a:ln>
                  <a:noFill/>
                </a:ln>
                <a:solidFill>
                  <a:srgbClr val="4B5563"/>
                </a:solidFill>
                <a:effectLst/>
                <a:uLnTx/>
                <a:uFillTx/>
                <a:latin typeface="Arial"/>
                <a:ea typeface="Arial"/>
                <a:cs typeface="Arial"/>
                <a:sym typeface="Arial"/>
              </a:rPr>
              <a:t>Count fake vs. real predictions.</a:t>
            </a:r>
            <a:endParaRPr kumimoji="0" sz="105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a:ln>
                  <a:noFill/>
                </a:ln>
                <a:solidFill>
                  <a:srgbClr val="4B5563"/>
                </a:solidFill>
                <a:effectLst/>
                <a:uLnTx/>
                <a:uFillTx/>
                <a:latin typeface="Arial"/>
                <a:ea typeface="Arial"/>
                <a:cs typeface="Arial"/>
                <a:sym typeface="Arial"/>
              </a:rPr>
              <a:t>Majority class wins.</a:t>
            </a: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523" name="Google Shape;523;p8"/>
          <p:cNvSpPr/>
          <p:nvPr/>
        </p:nvSpPr>
        <p:spPr>
          <a:xfrm>
            <a:off x="9158300" y="1834440"/>
            <a:ext cx="200000" cy="200000"/>
          </a:xfrm>
          <a:prstGeom prst="rightArrow">
            <a:avLst>
              <a:gd name="adj1" fmla="val 50000"/>
              <a:gd name="adj2" fmla="val 50000"/>
            </a:avLst>
          </a:prstGeom>
          <a:solidFill>
            <a:srgbClr val="2F6BFF"/>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4" name="Google Shape;524;p8"/>
          <p:cNvSpPr/>
          <p:nvPr/>
        </p:nvSpPr>
        <p:spPr>
          <a:xfrm>
            <a:off x="9372600" y="1234440"/>
            <a:ext cx="2103120" cy="1400000"/>
          </a:xfrm>
          <a:prstGeom prst="roundRect">
            <a:avLst>
              <a:gd name="adj" fmla="val 4800"/>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5" name="Google Shape;525;p8"/>
          <p:cNvSpPr/>
          <p:nvPr/>
        </p:nvSpPr>
        <p:spPr>
          <a:xfrm>
            <a:off x="9372600" y="1234440"/>
            <a:ext cx="73152" cy="1400000"/>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6" name="Google Shape;526;p8"/>
          <p:cNvSpPr/>
          <p:nvPr/>
        </p:nvSpPr>
        <p:spPr>
          <a:xfrm>
            <a:off x="9372600" y="1234440"/>
            <a:ext cx="73152" cy="14000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FFFFFF"/>
                </a:solidFill>
                <a:effectLst/>
                <a:uLnTx/>
                <a:uFillTx/>
                <a:latin typeface="Play"/>
                <a:ea typeface="Play"/>
                <a:cs typeface="Play"/>
                <a:sym typeface="Play"/>
              </a:rPr>
              <a:t>4</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7" name="Google Shape;527;p8"/>
          <p:cNvSpPr/>
          <p:nvPr/>
        </p:nvSpPr>
        <p:spPr>
          <a:xfrm>
            <a:off x="9646920" y="1380744"/>
            <a:ext cx="1755648"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300" b="1" i="0" u="none" strike="noStrike" kern="0" cap="none" spc="0" normalizeH="0" baseline="0" noProof="0">
                <a:ln>
                  <a:noFill/>
                </a:ln>
                <a:solidFill>
                  <a:srgbClr val="1F2A44"/>
                </a:solidFill>
                <a:effectLst/>
                <a:uLnTx/>
                <a:uFillTx/>
                <a:latin typeface="Arial"/>
                <a:ea typeface="Arial"/>
                <a:cs typeface="Arial"/>
                <a:sym typeface="Arial"/>
              </a:rPr>
              <a:t>Final video verdict</a:t>
            </a:r>
            <a:endParaRPr kumimoji="0" sz="1300" b="0" i="0" u="none" strike="noStrike" kern="0" cap="none" spc="0" normalizeH="0" baseline="0" noProof="0">
              <a:ln>
                <a:noFill/>
              </a:ln>
              <a:solidFill>
                <a:srgbClr val="000000"/>
              </a:solidFill>
              <a:effectLst/>
              <a:uLnTx/>
              <a:uFillTx/>
              <a:latin typeface="Arial"/>
              <a:cs typeface="Arial"/>
              <a:sym typeface="Arial"/>
            </a:endParaRPr>
          </a:p>
        </p:txBody>
      </p:sp>
      <p:sp>
        <p:nvSpPr>
          <p:cNvPr id="528" name="Google Shape;528;p8"/>
          <p:cNvSpPr/>
          <p:nvPr/>
        </p:nvSpPr>
        <p:spPr>
          <a:xfrm>
            <a:off x="9646920" y="1700784"/>
            <a:ext cx="1755648" cy="842216"/>
          </a:xfrm>
          <a:prstGeom prst="rect">
            <a:avLst/>
          </a:prstGeom>
          <a:noFill/>
          <a:ln>
            <a:noFill/>
          </a:ln>
        </p:spPr>
        <p:txBody>
          <a:bodyPr spcFirstLastPara="1" wrap="square" lIns="0" tIns="0" rIns="0" bIns="0" anchor="ctr" anchorCtr="0">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a:ln>
                  <a:noFill/>
                </a:ln>
                <a:solidFill>
                  <a:srgbClr val="4B5563"/>
                </a:solidFill>
                <a:effectLst/>
                <a:uLnTx/>
                <a:uFillTx/>
                <a:latin typeface="Arial"/>
                <a:ea typeface="Arial"/>
                <a:cs typeface="Arial"/>
                <a:sym typeface="Arial"/>
              </a:rPr>
              <a:t>If fake frames &gt; real frames,</a:t>
            </a:r>
            <a:endParaRPr kumimoji="0" sz="105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a:ln>
                  <a:noFill/>
                </a:ln>
                <a:solidFill>
                  <a:srgbClr val="4B5563"/>
                </a:solidFill>
                <a:effectLst/>
                <a:uLnTx/>
                <a:uFillTx/>
                <a:latin typeface="Arial"/>
                <a:ea typeface="Arial"/>
                <a:cs typeface="Arial"/>
                <a:sym typeface="Arial"/>
              </a:rPr>
              <a:t>the video is labelled FAKE.</a:t>
            </a:r>
            <a:endParaRPr kumimoji="0" sz="1050" b="0" i="0" u="none" strike="noStrike" kern="0" cap="none" spc="0" normalizeH="0" baseline="0" noProof="0">
              <a:ln>
                <a:noFill/>
              </a:ln>
              <a:solidFill>
                <a:srgbClr val="000000"/>
              </a:solidFill>
              <a:effectLst/>
              <a:uLnTx/>
              <a:uFillTx/>
              <a:latin typeface="Arial"/>
              <a:cs typeface="Arial"/>
              <a:sym typeface="Arial"/>
            </a:endParaRPr>
          </a:p>
        </p:txBody>
      </p:sp>
      <p:pic>
        <p:nvPicPr>
          <p:cNvPr id="3" name="Picture 2">
            <a:extLst>
              <a:ext uri="{FF2B5EF4-FFF2-40B4-BE49-F238E27FC236}">
                <a16:creationId xmlns:a16="http://schemas.microsoft.com/office/drawing/2014/main" id="{B69054DB-420D-BE8E-6CB6-FAA4C4923FAD}"/>
              </a:ext>
            </a:extLst>
          </p:cNvPr>
          <p:cNvPicPr>
            <a:picLocks noChangeAspect="1"/>
          </p:cNvPicPr>
          <p:nvPr/>
        </p:nvPicPr>
        <p:blipFill>
          <a:blip r:embed="rId2"/>
          <a:stretch>
            <a:fillRect/>
          </a:stretch>
        </p:blipFill>
        <p:spPr>
          <a:xfrm>
            <a:off x="4172625" y="2927048"/>
            <a:ext cx="3846443" cy="3077154"/>
          </a:xfrm>
          <a:prstGeom prst="rect">
            <a:avLst/>
          </a:prstGeom>
        </p:spPr>
      </p:pic>
      <p:sp>
        <p:nvSpPr>
          <p:cNvPr id="2" name="Google Shape;205;p7">
            <a:extLst>
              <a:ext uri="{FF2B5EF4-FFF2-40B4-BE49-F238E27FC236}">
                <a16:creationId xmlns:a16="http://schemas.microsoft.com/office/drawing/2014/main" id="{C5B434E5-41B1-E3F1-28D6-69B61E02F73C}"/>
              </a:ext>
            </a:extLst>
          </p:cNvPr>
          <p:cNvSpPr/>
          <p:nvPr/>
        </p:nvSpPr>
        <p:spPr>
          <a:xfrm>
            <a:off x="502920" y="6620256"/>
            <a:ext cx="2926080" cy="128016"/>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750" b="0" i="0" u="none" strike="noStrike" kern="0" cap="none" spc="0" normalizeH="0" baseline="0" noProof="0" dirty="0">
                <a:ln>
                  <a:noFill/>
                </a:ln>
                <a:solidFill>
                  <a:srgbClr val="E5E7EB"/>
                </a:solidFill>
                <a:effectLst/>
                <a:uLnTx/>
                <a:uFillTx/>
                <a:latin typeface="Arial"/>
                <a:ea typeface="Arial"/>
                <a:cs typeface="Arial"/>
                <a:sym typeface="Arial"/>
              </a:rPr>
              <a:t>DATA 621 Final Project | 8</a:t>
            </a:r>
            <a:endParaRPr kumimoji="0" sz="750" b="0" i="0" u="none" strike="noStrike" kern="0" cap="none" spc="0" normalizeH="0" baseline="0" noProof="0" dirty="0">
              <a:ln>
                <a:noFill/>
              </a:ln>
              <a:solidFill>
                <a:srgbClr val="000000"/>
              </a:solidFill>
              <a:effectLst/>
              <a:uLnTx/>
              <a:uFillTx/>
              <a:latin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0"/>
        <p:cNvGrpSpPr/>
        <p:nvPr/>
      </p:nvGrpSpPr>
      <p:grpSpPr>
        <a:xfrm>
          <a:off x="0" y="0"/>
          <a:ext cx="0" cy="0"/>
          <a:chOff x="0" y="0"/>
          <a:chExt cx="0" cy="0"/>
        </a:xfrm>
      </p:grpSpPr>
      <p:sp>
        <p:nvSpPr>
          <p:cNvPr id="301" name="Google Shape;301;p8"/>
          <p:cNvSpPr/>
          <p:nvPr/>
        </p:nvSpPr>
        <p:spPr>
          <a:xfrm>
            <a:off x="0" y="0"/>
            <a:ext cx="12191695" cy="164592"/>
          </a:xfrm>
          <a:prstGeom prst="rect">
            <a:avLst/>
          </a:prstGeom>
          <a:solidFill>
            <a:srgbClr val="2F6BFF"/>
          </a:solidFill>
          <a:ln w="12700" cap="flat" cmpd="sng">
            <a:solidFill>
              <a:srgbClr val="2F6B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2" name="Google Shape;302;p8"/>
          <p:cNvSpPr/>
          <p:nvPr/>
        </p:nvSpPr>
        <p:spPr>
          <a:xfrm>
            <a:off x="0" y="6547104"/>
            <a:ext cx="12191695" cy="310896"/>
          </a:xfrm>
          <a:prstGeom prst="rect">
            <a:avLst/>
          </a:prstGeom>
          <a:solidFill>
            <a:srgbClr val="1F2A44"/>
          </a:solidFill>
          <a:ln w="12700" cap="flat" cmpd="sng">
            <a:solidFill>
              <a:srgbClr val="1F2A44"/>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3" name="Google Shape;303;p8"/>
          <p:cNvSpPr/>
          <p:nvPr/>
        </p:nvSpPr>
        <p:spPr>
          <a:xfrm>
            <a:off x="502920" y="411480"/>
            <a:ext cx="10881360" cy="475488"/>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700" b="1" i="0" u="none" strike="noStrike" kern="0" cap="none" spc="0" normalizeH="0" baseline="0" noProof="0">
                <a:ln>
                  <a:noFill/>
                </a:ln>
                <a:solidFill>
                  <a:srgbClr val="1F2A44"/>
                </a:solidFill>
                <a:effectLst/>
                <a:uLnTx/>
                <a:uFillTx/>
                <a:latin typeface="Play"/>
                <a:ea typeface="Play"/>
                <a:cs typeface="Play"/>
                <a:sym typeface="Play"/>
              </a:rPr>
              <a:t>Results</a:t>
            </a:r>
            <a:endParaRPr kumimoji="0" sz="2700" b="0" i="0" u="none" strike="noStrike" kern="0" cap="none" spc="0" normalizeH="0" baseline="0" noProof="0">
              <a:ln>
                <a:noFill/>
              </a:ln>
              <a:solidFill>
                <a:srgbClr val="000000"/>
              </a:solidFill>
              <a:effectLst/>
              <a:uLnTx/>
              <a:uFillTx/>
              <a:latin typeface="Arial"/>
              <a:cs typeface="Arial"/>
              <a:sym typeface="Arial"/>
            </a:endParaRPr>
          </a:p>
        </p:txBody>
      </p:sp>
      <p:sp>
        <p:nvSpPr>
          <p:cNvPr id="304" name="Google Shape;304;p8"/>
          <p:cNvSpPr/>
          <p:nvPr/>
        </p:nvSpPr>
        <p:spPr>
          <a:xfrm>
            <a:off x="530352" y="941832"/>
            <a:ext cx="10698480" cy="292608"/>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6B7280"/>
                </a:solidFill>
                <a:effectLst/>
                <a:uLnTx/>
                <a:uFillTx/>
                <a:latin typeface="Arial"/>
                <a:ea typeface="Arial"/>
                <a:cs typeface="Arial"/>
                <a:sym typeface="Arial"/>
              </a:rPr>
              <a:t>EfficientNet-B0 fine-tuned on 82,052 face images from the DFD dataset</a:t>
            </a:r>
            <a:endParaRPr kumimoji="0" sz="1100" b="0" i="0" u="none" strike="noStrike" kern="0" cap="none" spc="0" normalizeH="0" baseline="0" noProof="0">
              <a:ln>
                <a:noFill/>
              </a:ln>
              <a:solidFill>
                <a:srgbClr val="000000"/>
              </a:solidFill>
              <a:effectLst/>
              <a:uLnTx/>
              <a:uFillTx/>
              <a:latin typeface="Arial"/>
              <a:cs typeface="Arial"/>
              <a:sym typeface="Arial"/>
            </a:endParaRPr>
          </a:p>
        </p:txBody>
      </p:sp>
      <p:sp>
        <p:nvSpPr>
          <p:cNvPr id="305" name="Google Shape;305;p8"/>
          <p:cNvSpPr/>
          <p:nvPr/>
        </p:nvSpPr>
        <p:spPr>
          <a:xfrm>
            <a:off x="502920" y="6620256"/>
            <a:ext cx="2926080" cy="128016"/>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750" b="0" i="0" u="none" strike="noStrike" kern="0" cap="none" spc="0" normalizeH="0" baseline="0" noProof="0">
                <a:ln>
                  <a:noFill/>
                </a:ln>
                <a:solidFill>
                  <a:srgbClr val="E5E7EB"/>
                </a:solidFill>
                <a:effectLst/>
                <a:uLnTx/>
                <a:uFillTx/>
                <a:latin typeface="Arial"/>
                <a:ea typeface="Arial"/>
                <a:cs typeface="Arial"/>
                <a:sym typeface="Arial"/>
              </a:rPr>
              <a:t>DATA 621 Final Project | 9</a:t>
            </a:r>
            <a:endParaRPr kumimoji="0" sz="750" b="0" i="0" u="none" strike="noStrike" kern="0" cap="none" spc="0" normalizeH="0" baseline="0" noProof="0">
              <a:ln>
                <a:noFill/>
              </a:ln>
              <a:solidFill>
                <a:srgbClr val="000000"/>
              </a:solidFill>
              <a:effectLst/>
              <a:uLnTx/>
              <a:uFillTx/>
              <a:latin typeface="Arial"/>
              <a:cs typeface="Arial"/>
              <a:sym typeface="Arial"/>
            </a:endParaRPr>
          </a:p>
        </p:txBody>
      </p:sp>
      <p:sp>
        <p:nvSpPr>
          <p:cNvPr id="300" name="Google Shape;300;p8"/>
          <p:cNvSpPr/>
          <p:nvPr/>
        </p:nvSpPr>
        <p:spPr>
          <a:xfrm>
            <a:off x="502920" y="1234440"/>
            <a:ext cx="3550000" cy="1600000"/>
          </a:xfrm>
          <a:prstGeom prst="roundRect">
            <a:avLst>
              <a:gd name="adj" fmla="val 4800"/>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 name="Google Shape;301;p8"/>
          <p:cNvSpPr/>
          <p:nvPr/>
        </p:nvSpPr>
        <p:spPr>
          <a:xfrm>
            <a:off x="502920" y="1234440"/>
            <a:ext cx="73152" cy="1600000"/>
          </a:xfrm>
          <a:prstGeom prst="rect">
            <a:avLst/>
          </a:prstGeom>
          <a:solidFill>
            <a:srgbClr val="2F6BFF"/>
          </a:solidFill>
          <a:ln w="12700" cap="flat" cmpd="sng">
            <a:solidFill>
              <a:srgbClr val="2F6B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Google Shape;302;p8"/>
          <p:cNvSpPr/>
          <p:nvPr/>
        </p:nvSpPr>
        <p:spPr>
          <a:xfrm>
            <a:off x="702920" y="1354440"/>
            <a:ext cx="3330000" cy="7000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000" b="1" i="0" u="none" strike="noStrike" kern="0" cap="none" spc="0" normalizeH="0" baseline="0" noProof="0">
                <a:ln>
                  <a:noFill/>
                </a:ln>
                <a:solidFill>
                  <a:srgbClr val="2F6BFF"/>
                </a:solidFill>
                <a:effectLst/>
                <a:uLnTx/>
                <a:uFillTx/>
                <a:latin typeface="Play"/>
                <a:ea typeface="Play"/>
                <a:cs typeface="Play"/>
                <a:sym typeface="Play"/>
              </a:rPr>
              <a:t>93.27%</a:t>
            </a:r>
            <a:endParaRPr kumimoji="0" sz="5000" b="0" i="0" u="none" strike="noStrike" kern="0" cap="none" spc="0" normalizeH="0" baseline="0" noProof="0">
              <a:ln>
                <a:noFill/>
              </a:ln>
              <a:solidFill>
                <a:srgbClr val="000000"/>
              </a:solidFill>
              <a:effectLst/>
              <a:uLnTx/>
              <a:uFillTx/>
              <a:latin typeface="Arial"/>
              <a:cs typeface="Arial"/>
              <a:sym typeface="Arial"/>
            </a:endParaRPr>
          </a:p>
        </p:txBody>
      </p:sp>
      <p:sp>
        <p:nvSpPr>
          <p:cNvPr id="4" name="Google Shape;303;p8"/>
          <p:cNvSpPr/>
          <p:nvPr/>
        </p:nvSpPr>
        <p:spPr>
          <a:xfrm>
            <a:off x="702920" y="2054440"/>
            <a:ext cx="3330000" cy="700000"/>
          </a:xfrm>
          <a:prstGeom prst="rect">
            <a:avLst/>
          </a:prstGeom>
          <a:noFill/>
          <a:ln>
            <a:noFill/>
          </a:ln>
        </p:spPr>
        <p:txBody>
          <a:bodyPr spcFirstLastPara="1" wrap="square" lIns="0" tIns="0" rIns="0" bIns="0" anchor="ctr" anchorCtr="0">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4B5563"/>
                </a:solidFill>
                <a:effectLst/>
                <a:uLnTx/>
                <a:uFillTx/>
                <a:latin typeface="Arial"/>
                <a:ea typeface="Arial"/>
                <a:cs typeface="Arial"/>
                <a:sym typeface="Arial"/>
              </a:rPr>
              <a:t>Frame-level accuracy
(12,410 test frames)</a:t>
            </a:r>
            <a:endParaRPr kumimoji="0" sz="1100" b="0" i="0" u="none" strike="noStrike" kern="0" cap="none" spc="0" normalizeH="0" baseline="0" noProof="0">
              <a:ln>
                <a:noFill/>
              </a:ln>
              <a:solidFill>
                <a:srgbClr val="000000"/>
              </a:solidFill>
              <a:effectLst/>
              <a:uLnTx/>
              <a:uFillTx/>
              <a:latin typeface="Arial"/>
              <a:cs typeface="Arial"/>
              <a:sym typeface="Arial"/>
            </a:endParaRPr>
          </a:p>
        </p:txBody>
      </p:sp>
      <p:sp>
        <p:nvSpPr>
          <p:cNvPr id="5" name="Google Shape;304;p8"/>
          <p:cNvSpPr/>
          <p:nvPr/>
        </p:nvSpPr>
        <p:spPr>
          <a:xfrm>
            <a:off x="4350920" y="1234440"/>
            <a:ext cx="3550000" cy="1600000"/>
          </a:xfrm>
          <a:prstGeom prst="roundRect">
            <a:avLst>
              <a:gd name="adj" fmla="val 4800"/>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 name="Google Shape;305;p8"/>
          <p:cNvSpPr/>
          <p:nvPr/>
        </p:nvSpPr>
        <p:spPr>
          <a:xfrm>
            <a:off x="4350920" y="1234440"/>
            <a:ext cx="73152" cy="1600000"/>
          </a:xfrm>
          <a:prstGeom prst="rect">
            <a:avLst/>
          </a:prstGeom>
          <a:solidFill>
            <a:srgbClr val="0EA5A4"/>
          </a:solidFill>
          <a:ln w="12700" cap="flat" cmpd="sng">
            <a:solidFill>
              <a:srgbClr val="0EA5A4"/>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6" name="Google Shape;306;p8"/>
          <p:cNvSpPr/>
          <p:nvPr/>
        </p:nvSpPr>
        <p:spPr>
          <a:xfrm>
            <a:off x="4550920" y="1354440"/>
            <a:ext cx="3330000" cy="7000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000" b="1" i="0" u="none" strike="noStrike" kern="0" cap="none" spc="0" normalizeH="0" baseline="0" noProof="0">
                <a:ln>
                  <a:noFill/>
                </a:ln>
                <a:solidFill>
                  <a:srgbClr val="0EA5A4"/>
                </a:solidFill>
                <a:effectLst/>
                <a:uLnTx/>
                <a:uFillTx/>
                <a:latin typeface="Play"/>
                <a:ea typeface="Play"/>
                <a:cs typeface="Play"/>
                <a:sym typeface="Play"/>
              </a:rPr>
              <a:t>97.77%</a:t>
            </a:r>
            <a:endParaRPr kumimoji="0" sz="5000" b="0" i="0" u="none" strike="noStrike" kern="0" cap="none" spc="0" normalizeH="0" baseline="0" noProof="0">
              <a:ln>
                <a:noFill/>
              </a:ln>
              <a:solidFill>
                <a:srgbClr val="000000"/>
              </a:solidFill>
              <a:effectLst/>
              <a:uLnTx/>
              <a:uFillTx/>
              <a:latin typeface="Arial"/>
              <a:cs typeface="Arial"/>
              <a:sym typeface="Arial"/>
            </a:endParaRPr>
          </a:p>
        </p:txBody>
      </p:sp>
      <p:sp>
        <p:nvSpPr>
          <p:cNvPr id="307" name="Google Shape;307;p8"/>
          <p:cNvSpPr/>
          <p:nvPr/>
        </p:nvSpPr>
        <p:spPr>
          <a:xfrm>
            <a:off x="4550920" y="2054440"/>
            <a:ext cx="3330000" cy="700000"/>
          </a:xfrm>
          <a:prstGeom prst="rect">
            <a:avLst/>
          </a:prstGeom>
          <a:noFill/>
          <a:ln>
            <a:noFill/>
          </a:ln>
        </p:spPr>
        <p:txBody>
          <a:bodyPr spcFirstLastPara="1" wrap="square" lIns="0" tIns="0" rIns="0" bIns="0" anchor="ctr" anchorCtr="0">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4B5563"/>
                </a:solidFill>
                <a:effectLst/>
                <a:uLnTx/>
                <a:uFillTx/>
                <a:latin typeface="Arial"/>
                <a:ea typeface="Arial"/>
                <a:cs typeface="Arial"/>
                <a:sym typeface="Arial"/>
              </a:rPr>
              <a:t>Video-level accuracy
(224 test videos, majority vote)</a:t>
            </a:r>
            <a:endParaRPr kumimoji="0" sz="1100" b="0" i="0" u="none" strike="noStrike" kern="0" cap="none" spc="0" normalizeH="0" baseline="0" noProof="0">
              <a:ln>
                <a:noFill/>
              </a:ln>
              <a:solidFill>
                <a:srgbClr val="000000"/>
              </a:solidFill>
              <a:effectLst/>
              <a:uLnTx/>
              <a:uFillTx/>
              <a:latin typeface="Arial"/>
              <a:cs typeface="Arial"/>
              <a:sym typeface="Arial"/>
            </a:endParaRPr>
          </a:p>
        </p:txBody>
      </p:sp>
      <p:sp>
        <p:nvSpPr>
          <p:cNvPr id="308" name="Google Shape;308;p8"/>
          <p:cNvSpPr/>
          <p:nvPr/>
        </p:nvSpPr>
        <p:spPr>
          <a:xfrm>
            <a:off x="8200920" y="1234440"/>
            <a:ext cx="3287255" cy="1600000"/>
          </a:xfrm>
          <a:prstGeom prst="roundRect">
            <a:avLst>
              <a:gd name="adj" fmla="val 4800"/>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9" name="Google Shape;309;p8"/>
          <p:cNvSpPr/>
          <p:nvPr/>
        </p:nvSpPr>
        <p:spPr>
          <a:xfrm>
            <a:off x="8200920" y="1234440"/>
            <a:ext cx="73152" cy="1600000"/>
          </a:xfrm>
          <a:prstGeom prst="rect">
            <a:avLst/>
          </a:prstGeom>
          <a:solidFill>
            <a:srgbClr val="6D5DFD"/>
          </a:solidFill>
          <a:ln w="12700" cap="flat" cmpd="sng">
            <a:solidFill>
              <a:srgbClr val="6D5DFD"/>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0" name="Google Shape;310;p8"/>
          <p:cNvSpPr/>
          <p:nvPr/>
        </p:nvSpPr>
        <p:spPr>
          <a:xfrm>
            <a:off x="8400920" y="1354440"/>
            <a:ext cx="3067255" cy="7000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000" b="1" i="0" u="none" strike="noStrike" kern="0" cap="none" spc="0" normalizeH="0" baseline="0" noProof="0">
                <a:ln>
                  <a:noFill/>
                </a:ln>
                <a:solidFill>
                  <a:srgbClr val="6D5DFD"/>
                </a:solidFill>
                <a:effectLst/>
                <a:uLnTx/>
                <a:uFillTx/>
                <a:latin typeface="Play"/>
                <a:ea typeface="Play"/>
                <a:cs typeface="Play"/>
                <a:sym typeface="Play"/>
              </a:rPr>
              <a:t>0.9573</a:t>
            </a:r>
            <a:endParaRPr kumimoji="0" sz="5000" b="0" i="0" u="none" strike="noStrike" kern="0" cap="none" spc="0" normalizeH="0" baseline="0" noProof="0">
              <a:ln>
                <a:noFill/>
              </a:ln>
              <a:solidFill>
                <a:srgbClr val="000000"/>
              </a:solidFill>
              <a:effectLst/>
              <a:uLnTx/>
              <a:uFillTx/>
              <a:latin typeface="Arial"/>
              <a:cs typeface="Arial"/>
              <a:sym typeface="Arial"/>
            </a:endParaRPr>
          </a:p>
        </p:txBody>
      </p:sp>
      <p:sp>
        <p:nvSpPr>
          <p:cNvPr id="311" name="Google Shape;311;p8"/>
          <p:cNvSpPr/>
          <p:nvPr/>
        </p:nvSpPr>
        <p:spPr>
          <a:xfrm>
            <a:off x="8400920" y="2054440"/>
            <a:ext cx="3067255" cy="700000"/>
          </a:xfrm>
          <a:prstGeom prst="rect">
            <a:avLst/>
          </a:prstGeom>
          <a:noFill/>
          <a:ln>
            <a:noFill/>
          </a:ln>
        </p:spPr>
        <p:txBody>
          <a:bodyPr spcFirstLastPara="1" wrap="square" lIns="0" tIns="0" rIns="0" bIns="0" anchor="ctr" anchorCtr="0">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4B5563"/>
                </a:solidFill>
                <a:effectLst/>
                <a:uLnTx/>
                <a:uFillTx/>
                <a:latin typeface="Arial"/>
                <a:ea typeface="Arial"/>
                <a:cs typeface="Arial"/>
                <a:sym typeface="Arial"/>
              </a:rPr>
              <a:t>AUC score
(1.0 = perfect, 0.5 = random)</a:t>
            </a:r>
            <a:endParaRPr kumimoji="0" sz="1100" b="0" i="0" u="none" strike="noStrike" kern="0" cap="none" spc="0" normalizeH="0" baseline="0" noProof="0">
              <a:ln>
                <a:noFill/>
              </a:ln>
              <a:solidFill>
                <a:srgbClr val="000000"/>
              </a:solidFill>
              <a:effectLst/>
              <a:uLnTx/>
              <a:uFillTx/>
              <a:latin typeface="Arial"/>
              <a:cs typeface="Arial"/>
              <a:sym typeface="Arial"/>
            </a:endParaRPr>
          </a:p>
        </p:txBody>
      </p:sp>
      <p:sp>
        <p:nvSpPr>
          <p:cNvPr id="312" name="Google Shape;312;p8"/>
          <p:cNvSpPr/>
          <p:nvPr/>
        </p:nvSpPr>
        <p:spPr>
          <a:xfrm>
            <a:off x="731520" y="3080440"/>
            <a:ext cx="5214120" cy="2160794"/>
          </a:xfrm>
          <a:prstGeom prst="roundRect">
            <a:avLst>
              <a:gd name="adj" fmla="val 4800"/>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3" name="Google Shape;313;p8"/>
          <p:cNvSpPr/>
          <p:nvPr/>
        </p:nvSpPr>
        <p:spPr>
          <a:xfrm>
            <a:off x="731520" y="3080440"/>
            <a:ext cx="73152" cy="2160794"/>
          </a:xfrm>
          <a:prstGeom prst="rect">
            <a:avLst/>
          </a:prstGeom>
          <a:solidFill>
            <a:srgbClr val="2F6BFF"/>
          </a:solidFill>
          <a:ln w="12700" cap="flat" cmpd="sng">
            <a:solidFill>
              <a:srgbClr val="2F6B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4" name="Google Shape;314;p8"/>
          <p:cNvSpPr/>
          <p:nvPr/>
        </p:nvSpPr>
        <p:spPr>
          <a:xfrm>
            <a:off x="1005840" y="3226744"/>
            <a:ext cx="4866648"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300" b="1" i="0" u="none" strike="noStrike" kern="0" cap="none" spc="0" normalizeH="0" baseline="0" noProof="0">
                <a:ln>
                  <a:noFill/>
                </a:ln>
                <a:solidFill>
                  <a:srgbClr val="1F2A44"/>
                </a:solidFill>
                <a:effectLst/>
                <a:uLnTx/>
                <a:uFillTx/>
                <a:latin typeface="Arial"/>
                <a:ea typeface="Arial"/>
                <a:cs typeface="Arial"/>
                <a:sym typeface="Arial"/>
              </a:rPr>
              <a:t>Frame-Level Classification Report</a:t>
            </a:r>
            <a:endParaRPr kumimoji="0" sz="1300" b="0" i="0" u="none" strike="noStrike" kern="0" cap="none" spc="0" normalizeH="0" baseline="0" noProof="0">
              <a:ln>
                <a:noFill/>
              </a:ln>
              <a:solidFill>
                <a:srgbClr val="000000"/>
              </a:solidFill>
              <a:effectLst/>
              <a:uLnTx/>
              <a:uFillTx/>
              <a:latin typeface="Arial"/>
              <a:cs typeface="Arial"/>
              <a:sym typeface="Arial"/>
            </a:endParaRPr>
          </a:p>
        </p:txBody>
      </p:sp>
      <p:sp>
        <p:nvSpPr>
          <p:cNvPr id="315" name="Google Shape;315;p8"/>
          <p:cNvSpPr/>
          <p:nvPr/>
        </p:nvSpPr>
        <p:spPr>
          <a:xfrm>
            <a:off x="1005840" y="3546784"/>
            <a:ext cx="4866648" cy="1694450"/>
          </a:xfrm>
          <a:prstGeom prst="rect">
            <a:avLst/>
          </a:prstGeom>
          <a:noFill/>
          <a:ln>
            <a:noFill/>
          </a:ln>
        </p:spPr>
        <p:txBody>
          <a:bodyPr spcFirstLastPara="1" wrap="square" lIns="0" tIns="0" rIns="0" bIns="0" anchor="ctr" anchorCtr="0">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FAKE  —  Precision: 96%  |  Recall: 96%  |  F1: 96%</a:t>
            </a:r>
            <a:endParaRPr kumimoji="0" sz="105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REAL  —  Precision: 72%  |  Recall: 73%  |  F1: 72%</a:t>
            </a:r>
            <a:endParaRPr kumimoji="0" sz="105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Lower real-class scores reflect class imbalance:</a:t>
            </a:r>
            <a:endParaRPr kumimoji="0" sz="105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4B5563"/>
                </a:solidFill>
                <a:effectLst/>
                <a:uLnTx/>
                <a:uFillTx/>
                <a:latin typeface="Arial"/>
                <a:ea typeface="Arial"/>
                <a:cs typeface="Arial"/>
                <a:sym typeface="Arial"/>
              </a:rPr>
              <a:t>10,902 fake frames vs. 1,508 real frames in test set.</a:t>
            </a:r>
            <a:endParaRPr kumimoji="0" sz="1050" b="0" i="0" u="none" strike="noStrike" kern="0" cap="none" spc="0" normalizeH="0" baseline="0" noProof="0" dirty="0">
              <a:ln>
                <a:noFill/>
              </a:ln>
              <a:solidFill>
                <a:srgbClr val="000000"/>
              </a:solidFill>
              <a:effectLst/>
              <a:uLnTx/>
              <a:uFillTx/>
              <a:latin typeface="Arial"/>
              <a:cs typeface="Arial"/>
              <a:sym typeface="Arial"/>
            </a:endParaRPr>
          </a:p>
        </p:txBody>
      </p:sp>
      <p:sp>
        <p:nvSpPr>
          <p:cNvPr id="316" name="Google Shape;316;p8"/>
          <p:cNvSpPr/>
          <p:nvPr/>
        </p:nvSpPr>
        <p:spPr>
          <a:xfrm>
            <a:off x="6181695" y="3113772"/>
            <a:ext cx="5286480" cy="2127462"/>
          </a:xfrm>
          <a:prstGeom prst="roundRect">
            <a:avLst>
              <a:gd name="adj" fmla="val 4800"/>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7" name="Google Shape;317;p8"/>
          <p:cNvSpPr/>
          <p:nvPr/>
        </p:nvSpPr>
        <p:spPr>
          <a:xfrm>
            <a:off x="6173640" y="3113772"/>
            <a:ext cx="72722" cy="2127462"/>
          </a:xfrm>
          <a:prstGeom prst="rect">
            <a:avLst/>
          </a:prstGeom>
          <a:solidFill>
            <a:srgbClr val="0EA5A4"/>
          </a:solidFill>
          <a:ln w="12700" cap="flat" cmpd="sng">
            <a:solidFill>
              <a:srgbClr val="0EA5A4"/>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8" name="Google Shape;318;p8"/>
          <p:cNvSpPr/>
          <p:nvPr/>
        </p:nvSpPr>
        <p:spPr>
          <a:xfrm>
            <a:off x="6447960" y="3226744"/>
            <a:ext cx="4939008" cy="228600"/>
          </a:xfrm>
          <a:prstGeom prst="rect">
            <a:avLst/>
          </a:prstGeom>
          <a:noFill/>
          <a:ln>
            <a:noFill/>
          </a:ln>
        </p:spPr>
        <p:txBody>
          <a:bodyPr spcFirstLastPara="1" wrap="square" lIns="0" tIns="0" rIns="0" bIns="0" anchor="ctr" anchorCtr="0">
            <a:noAutofit/>
          </a:bodyPr>
          <a:lstStyle/>
          <a:p>
            <a:pPr lvl="0"/>
            <a:r>
              <a:rPr lang="en-US" sz="1300" b="1" dirty="0">
                <a:solidFill>
                  <a:srgbClr val="1F2A44"/>
                </a:solidFill>
              </a:rPr>
              <a:t>Video-Level Results</a:t>
            </a:r>
            <a:endParaRPr lang="en-US" sz="1300" dirty="0">
              <a:solidFill>
                <a:schemeClr val="dk1"/>
              </a:solidFill>
            </a:endParaRPr>
          </a:p>
        </p:txBody>
      </p:sp>
      <p:sp>
        <p:nvSpPr>
          <p:cNvPr id="319" name="Google Shape;319;p8"/>
          <p:cNvSpPr/>
          <p:nvPr/>
        </p:nvSpPr>
        <p:spPr>
          <a:xfrm>
            <a:off x="6447960" y="3546783"/>
            <a:ext cx="4939008" cy="1694451"/>
          </a:xfrm>
          <a:prstGeom prst="rect">
            <a:avLst/>
          </a:prstGeom>
          <a:noFill/>
          <a:ln>
            <a:noFill/>
          </a:ln>
        </p:spPr>
        <p:txBody>
          <a:bodyPr spcFirstLastPara="1" wrap="square" lIns="0" tIns="0" rIns="0" bIns="0" anchor="ctr" anchorCtr="0">
            <a:normAutofit/>
          </a:bodyPr>
          <a:lstStyle/>
          <a:p>
            <a:pPr lvl="0"/>
            <a:r>
              <a:rPr lang="en-US" sz="1050" dirty="0">
                <a:solidFill>
                  <a:srgbClr val="4B5563"/>
                </a:solidFill>
              </a:rPr>
              <a:t>FAKE</a:t>
            </a:r>
            <a:r>
              <a:rPr lang="zh-TW" altLang="en-US" sz="1050" dirty="0">
                <a:solidFill>
                  <a:srgbClr val="4B5563"/>
                </a:solidFill>
              </a:rPr>
              <a:t> </a:t>
            </a:r>
            <a:r>
              <a:rPr lang="en-US" sz="1050" dirty="0">
                <a:solidFill>
                  <a:srgbClr val="4B5563"/>
                </a:solidFill>
              </a:rPr>
              <a:t> —</a:t>
            </a:r>
            <a:r>
              <a:rPr lang="zh-TW" altLang="en-US" sz="1050" dirty="0">
                <a:solidFill>
                  <a:srgbClr val="4B5563"/>
                </a:solidFill>
              </a:rPr>
              <a:t>  </a:t>
            </a:r>
            <a:r>
              <a:rPr lang="en-US" sz="1050" dirty="0">
                <a:solidFill>
                  <a:srgbClr val="4B5563"/>
                </a:solidFill>
              </a:rPr>
              <a:t>Precision 98%   |   Recall 100%   |   F1 99%   |   Support: 200 videos</a:t>
            </a:r>
            <a:endParaRPr lang="en-US" sz="1050" dirty="0">
              <a:solidFill>
                <a:schemeClr val="dk1"/>
              </a:solidFill>
            </a:endParaRPr>
          </a:p>
          <a:p>
            <a:pPr lvl="0"/>
            <a:r>
              <a:rPr lang="en-US" sz="1050" dirty="0">
                <a:solidFill>
                  <a:srgbClr val="4B5563"/>
                </a:solidFill>
              </a:rPr>
              <a:t>REAL</a:t>
            </a:r>
            <a:r>
              <a:rPr lang="zh-TW" altLang="en-US" sz="1050" dirty="0">
                <a:solidFill>
                  <a:srgbClr val="4B5563"/>
                </a:solidFill>
              </a:rPr>
              <a:t> </a:t>
            </a:r>
            <a:r>
              <a:rPr lang="en-US" sz="1050" dirty="0">
                <a:solidFill>
                  <a:srgbClr val="4B5563"/>
                </a:solidFill>
              </a:rPr>
              <a:t> —</a:t>
            </a:r>
            <a:r>
              <a:rPr lang="zh-TW" altLang="en-US" sz="1050" dirty="0">
                <a:solidFill>
                  <a:srgbClr val="4B5563"/>
                </a:solidFill>
              </a:rPr>
              <a:t> </a:t>
            </a:r>
            <a:r>
              <a:rPr lang="en-US" sz="1050" dirty="0">
                <a:solidFill>
                  <a:srgbClr val="4B5563"/>
                </a:solidFill>
              </a:rPr>
              <a:t> Precision 100% |   Recall 79%   </a:t>
            </a:r>
            <a:r>
              <a:rPr lang="zh-TW" altLang="en-US" sz="1050" dirty="0">
                <a:solidFill>
                  <a:srgbClr val="4B5563"/>
                </a:solidFill>
              </a:rPr>
              <a:t> </a:t>
            </a:r>
            <a:r>
              <a:rPr lang="en-US" sz="1050" dirty="0">
                <a:solidFill>
                  <a:srgbClr val="4B5563"/>
                </a:solidFill>
              </a:rPr>
              <a:t> |   F1 88%   |   Support: 24 videos</a:t>
            </a:r>
            <a:endParaRPr lang="en-US" sz="1050" dirty="0">
              <a:solidFill>
                <a:schemeClr val="dk1"/>
              </a:solidFill>
            </a:endParaRPr>
          </a:p>
          <a:p>
            <a:pPr lvl="0"/>
            <a:endParaRPr lang="en-US" sz="1050" dirty="0">
              <a:solidFill>
                <a:schemeClr val="dk1"/>
              </a:solidFill>
            </a:endParaRPr>
          </a:p>
          <a:p>
            <a:pPr lvl="0">
              <a:defRPr/>
            </a:pPr>
            <a:r>
              <a:rPr lang="en-US" sz="1050" dirty="0">
                <a:solidFill>
                  <a:srgbClr val="4B5563"/>
                </a:solidFill>
              </a:rPr>
              <a:t>Lower real-class scores reflect class imbalance:</a:t>
            </a:r>
            <a:endParaRPr lang="en-US" sz="1050" dirty="0"/>
          </a:p>
          <a:p>
            <a:pPr lvl="0">
              <a:defRPr/>
            </a:pPr>
            <a:r>
              <a:rPr lang="en-US" altLang="zh-TW" sz="1050" dirty="0">
                <a:solidFill>
                  <a:srgbClr val="4B5563"/>
                </a:solidFill>
              </a:rPr>
              <a:t>200</a:t>
            </a:r>
            <a:r>
              <a:rPr lang="en-US" sz="1050" dirty="0">
                <a:solidFill>
                  <a:srgbClr val="4B5563"/>
                </a:solidFill>
              </a:rPr>
              <a:t> fake videos vs. 24 real videos in test set.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3"/>
        <p:cNvGrpSpPr/>
        <p:nvPr/>
      </p:nvGrpSpPr>
      <p:grpSpPr>
        <a:xfrm>
          <a:off x="0" y="0"/>
          <a:ext cx="0" cy="0"/>
          <a:chOff x="0" y="0"/>
          <a:chExt cx="0" cy="0"/>
        </a:xfrm>
      </p:grpSpPr>
      <p:sp>
        <p:nvSpPr>
          <p:cNvPr id="194" name="Google Shape;194;p9"/>
          <p:cNvSpPr/>
          <p:nvPr/>
        </p:nvSpPr>
        <p:spPr>
          <a:xfrm>
            <a:off x="0" y="0"/>
            <a:ext cx="12191695" cy="164592"/>
          </a:xfrm>
          <a:prstGeom prst="rect">
            <a:avLst/>
          </a:prstGeom>
          <a:solidFill>
            <a:srgbClr val="2F6BFF"/>
          </a:solidFill>
          <a:ln w="12700" cap="flat" cmpd="sng">
            <a:solidFill>
              <a:srgbClr val="2F6B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9"/>
          <p:cNvSpPr/>
          <p:nvPr/>
        </p:nvSpPr>
        <p:spPr>
          <a:xfrm>
            <a:off x="0" y="6547104"/>
            <a:ext cx="12191695" cy="310896"/>
          </a:xfrm>
          <a:prstGeom prst="rect">
            <a:avLst/>
          </a:prstGeom>
          <a:solidFill>
            <a:srgbClr val="1F2A44"/>
          </a:solidFill>
          <a:ln w="12700" cap="flat" cmpd="sng">
            <a:solidFill>
              <a:srgbClr val="1F2A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9"/>
          <p:cNvSpPr/>
          <p:nvPr/>
        </p:nvSpPr>
        <p:spPr>
          <a:xfrm>
            <a:off x="502920" y="411480"/>
            <a:ext cx="1088136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2700"/>
              <a:buFont typeface="Play"/>
              <a:buNone/>
            </a:pPr>
            <a:r>
              <a:rPr lang="en-US" sz="2700" b="1" dirty="0">
                <a:solidFill>
                  <a:srgbClr val="1F2A44"/>
                </a:solidFill>
                <a:latin typeface="Play"/>
                <a:ea typeface="Play"/>
                <a:cs typeface="Play"/>
                <a:sym typeface="Play"/>
              </a:rPr>
              <a:t>Challenges and Limitations</a:t>
            </a:r>
            <a:endParaRPr sz="2700" dirty="0">
              <a:solidFill>
                <a:schemeClr val="dk1"/>
              </a:solidFill>
              <a:latin typeface="Arial"/>
              <a:ea typeface="Arial"/>
              <a:cs typeface="Arial"/>
              <a:sym typeface="Arial"/>
            </a:endParaRPr>
          </a:p>
        </p:txBody>
      </p:sp>
      <p:sp>
        <p:nvSpPr>
          <p:cNvPr id="197" name="Google Shape;197;p9"/>
          <p:cNvSpPr/>
          <p:nvPr/>
        </p:nvSpPr>
        <p:spPr>
          <a:xfrm>
            <a:off x="530352" y="941832"/>
            <a:ext cx="106984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100"/>
              <a:buFont typeface="Arial"/>
              <a:buNone/>
            </a:pPr>
            <a:r>
              <a:rPr lang="en-US" sz="1100">
                <a:solidFill>
                  <a:srgbClr val="6B7280"/>
                </a:solidFill>
                <a:latin typeface="Arial"/>
                <a:ea typeface="Arial"/>
                <a:cs typeface="Arial"/>
                <a:sym typeface="Arial"/>
              </a:rPr>
              <a:t>The biggest barriers are data size, compute limits, and class imbalance.</a:t>
            </a:r>
            <a:endParaRPr sz="1100">
              <a:solidFill>
                <a:schemeClr val="dk1"/>
              </a:solidFill>
              <a:latin typeface="Arial"/>
              <a:ea typeface="Arial"/>
              <a:cs typeface="Arial"/>
              <a:sym typeface="Arial"/>
            </a:endParaRPr>
          </a:p>
        </p:txBody>
      </p:sp>
      <p:sp>
        <p:nvSpPr>
          <p:cNvPr id="198" name="Google Shape;198;p9"/>
          <p:cNvSpPr/>
          <p:nvPr/>
        </p:nvSpPr>
        <p:spPr>
          <a:xfrm>
            <a:off x="502920" y="6620256"/>
            <a:ext cx="292608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5E7EB"/>
              </a:buClr>
              <a:buSzPts val="750"/>
              <a:buFont typeface="Arial"/>
              <a:buNone/>
            </a:pPr>
            <a:r>
              <a:rPr lang="en-US" sz="750" dirty="0">
                <a:solidFill>
                  <a:srgbClr val="E5E7EB"/>
                </a:solidFill>
                <a:latin typeface="Arial"/>
                <a:ea typeface="Arial"/>
                <a:cs typeface="Arial"/>
                <a:sym typeface="Arial"/>
              </a:rPr>
              <a:t>DATA 621 Final Project | 10</a:t>
            </a:r>
            <a:endParaRPr sz="750" dirty="0">
              <a:solidFill>
                <a:schemeClr val="dk1"/>
              </a:solidFill>
              <a:latin typeface="Arial"/>
              <a:ea typeface="Arial"/>
              <a:cs typeface="Arial"/>
              <a:sym typeface="Arial"/>
            </a:endParaRPr>
          </a:p>
        </p:txBody>
      </p:sp>
      <p:sp>
        <p:nvSpPr>
          <p:cNvPr id="199" name="Google Shape;199;p9"/>
          <p:cNvSpPr/>
          <p:nvPr/>
        </p:nvSpPr>
        <p:spPr>
          <a:xfrm>
            <a:off x="731520" y="1325880"/>
            <a:ext cx="3383280" cy="1280160"/>
          </a:xfrm>
          <a:prstGeom prst="roundRect">
            <a:avLst>
              <a:gd name="adj" fmla="val 4286"/>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9"/>
          <p:cNvSpPr/>
          <p:nvPr/>
        </p:nvSpPr>
        <p:spPr>
          <a:xfrm>
            <a:off x="731520" y="1325880"/>
            <a:ext cx="73152" cy="1280160"/>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9"/>
          <p:cNvSpPr/>
          <p:nvPr/>
        </p:nvSpPr>
        <p:spPr>
          <a:xfrm>
            <a:off x="932688" y="1472184"/>
            <a:ext cx="3054096"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300"/>
              <a:buFont typeface="Arial"/>
              <a:buNone/>
            </a:pPr>
            <a:r>
              <a:rPr lang="en-US" sz="1300" b="1">
                <a:solidFill>
                  <a:srgbClr val="1F2A44"/>
                </a:solidFill>
                <a:latin typeface="Arial"/>
                <a:ea typeface="Arial"/>
                <a:cs typeface="Arial"/>
                <a:sym typeface="Arial"/>
              </a:rPr>
              <a:t>Large storage needs</a:t>
            </a:r>
            <a:endParaRPr sz="1300">
              <a:solidFill>
                <a:schemeClr val="dk1"/>
              </a:solidFill>
              <a:latin typeface="Arial"/>
              <a:ea typeface="Arial"/>
              <a:cs typeface="Arial"/>
              <a:sym typeface="Arial"/>
            </a:endParaRPr>
          </a:p>
        </p:txBody>
      </p:sp>
      <p:sp>
        <p:nvSpPr>
          <p:cNvPr id="202" name="Google Shape;202;p9"/>
          <p:cNvSpPr/>
          <p:nvPr/>
        </p:nvSpPr>
        <p:spPr>
          <a:xfrm>
            <a:off x="932688" y="1764792"/>
            <a:ext cx="3054096" cy="74980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Video data and extracted frames exceeded the limits of a normal free cloud workflow.</a:t>
            </a:r>
            <a:endParaRPr sz="1050">
              <a:solidFill>
                <a:schemeClr val="dk1"/>
              </a:solidFill>
              <a:latin typeface="Arial"/>
              <a:ea typeface="Arial"/>
              <a:cs typeface="Arial"/>
              <a:sym typeface="Arial"/>
            </a:endParaRPr>
          </a:p>
        </p:txBody>
      </p:sp>
      <p:sp>
        <p:nvSpPr>
          <p:cNvPr id="203" name="Google Shape;203;p9"/>
          <p:cNvSpPr/>
          <p:nvPr/>
        </p:nvSpPr>
        <p:spPr>
          <a:xfrm>
            <a:off x="4407408" y="1325880"/>
            <a:ext cx="3383280" cy="1280160"/>
          </a:xfrm>
          <a:prstGeom prst="roundRect">
            <a:avLst>
              <a:gd name="adj" fmla="val 4286"/>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9"/>
          <p:cNvSpPr/>
          <p:nvPr/>
        </p:nvSpPr>
        <p:spPr>
          <a:xfrm>
            <a:off x="4407408" y="1325880"/>
            <a:ext cx="73152" cy="1280160"/>
          </a:xfrm>
          <a:prstGeom prst="rect">
            <a:avLst/>
          </a:prstGeom>
          <a:solidFill>
            <a:srgbClr val="DC2626"/>
          </a:solidFill>
          <a:ln w="12700" cap="flat" cmpd="sng">
            <a:solidFill>
              <a:srgbClr val="DC262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9"/>
          <p:cNvSpPr/>
          <p:nvPr/>
        </p:nvSpPr>
        <p:spPr>
          <a:xfrm>
            <a:off x="4608576" y="1472184"/>
            <a:ext cx="3054096"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300"/>
              <a:buFont typeface="Arial"/>
              <a:buNone/>
            </a:pPr>
            <a:r>
              <a:rPr lang="en-US" sz="1300" b="1">
                <a:solidFill>
                  <a:srgbClr val="1F2A44"/>
                </a:solidFill>
                <a:latin typeface="Arial"/>
                <a:ea typeface="Arial"/>
                <a:cs typeface="Arial"/>
                <a:sym typeface="Arial"/>
              </a:rPr>
              <a:t>Runtime limits</a:t>
            </a:r>
            <a:endParaRPr sz="1300">
              <a:solidFill>
                <a:schemeClr val="dk1"/>
              </a:solidFill>
              <a:latin typeface="Arial"/>
              <a:ea typeface="Arial"/>
              <a:cs typeface="Arial"/>
              <a:sym typeface="Arial"/>
            </a:endParaRPr>
          </a:p>
        </p:txBody>
      </p:sp>
      <p:sp>
        <p:nvSpPr>
          <p:cNvPr id="206" name="Google Shape;206;p9"/>
          <p:cNvSpPr/>
          <p:nvPr/>
        </p:nvSpPr>
        <p:spPr>
          <a:xfrm>
            <a:off x="4608576" y="1764792"/>
            <a:ext cx="3054096" cy="74980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Frame extraction and face detection took hours and depended on GPU availability.</a:t>
            </a:r>
            <a:endParaRPr sz="1050">
              <a:solidFill>
                <a:schemeClr val="dk1"/>
              </a:solidFill>
              <a:latin typeface="Arial"/>
              <a:ea typeface="Arial"/>
              <a:cs typeface="Arial"/>
              <a:sym typeface="Arial"/>
            </a:endParaRPr>
          </a:p>
        </p:txBody>
      </p:sp>
      <p:sp>
        <p:nvSpPr>
          <p:cNvPr id="207" name="Google Shape;207;p9"/>
          <p:cNvSpPr/>
          <p:nvPr/>
        </p:nvSpPr>
        <p:spPr>
          <a:xfrm>
            <a:off x="8092440" y="1325880"/>
            <a:ext cx="3383280" cy="1280160"/>
          </a:xfrm>
          <a:prstGeom prst="roundRect">
            <a:avLst>
              <a:gd name="adj" fmla="val 4286"/>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9"/>
          <p:cNvSpPr/>
          <p:nvPr/>
        </p:nvSpPr>
        <p:spPr>
          <a:xfrm>
            <a:off x="8092440" y="1325880"/>
            <a:ext cx="73152" cy="1280160"/>
          </a:xfrm>
          <a:prstGeom prst="rect">
            <a:avLst/>
          </a:prstGeom>
          <a:solidFill>
            <a:srgbClr val="6D5DFD"/>
          </a:solidFill>
          <a:ln w="12700" cap="flat" cmpd="sng">
            <a:solidFill>
              <a:srgbClr val="6D5DF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9"/>
          <p:cNvSpPr/>
          <p:nvPr/>
        </p:nvSpPr>
        <p:spPr>
          <a:xfrm>
            <a:off x="8293608" y="1472184"/>
            <a:ext cx="3054096"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300"/>
              <a:buFont typeface="Arial"/>
              <a:buNone/>
            </a:pPr>
            <a:r>
              <a:rPr lang="en-US" sz="1300" b="1">
                <a:solidFill>
                  <a:srgbClr val="1F2A44"/>
                </a:solidFill>
                <a:latin typeface="Arial"/>
                <a:ea typeface="Arial"/>
                <a:cs typeface="Arial"/>
                <a:sym typeface="Arial"/>
              </a:rPr>
              <a:t>Class imbalance</a:t>
            </a:r>
            <a:endParaRPr sz="1300">
              <a:solidFill>
                <a:schemeClr val="dk1"/>
              </a:solidFill>
              <a:latin typeface="Arial"/>
              <a:ea typeface="Arial"/>
              <a:cs typeface="Arial"/>
              <a:sym typeface="Arial"/>
            </a:endParaRPr>
          </a:p>
        </p:txBody>
      </p:sp>
      <p:sp>
        <p:nvSpPr>
          <p:cNvPr id="210" name="Google Shape;210;p9"/>
          <p:cNvSpPr/>
          <p:nvPr/>
        </p:nvSpPr>
        <p:spPr>
          <a:xfrm>
            <a:off x="8293608" y="1764792"/>
            <a:ext cx="3054096" cy="74980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The processed dataset contains far more fake images than real images.</a:t>
            </a:r>
            <a:endParaRPr sz="105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00"/>
        <p:cNvGrpSpPr/>
        <p:nvPr/>
      </p:nvGrpSpPr>
      <p:grpSpPr>
        <a:xfrm>
          <a:off x="0" y="0"/>
          <a:ext cx="0" cy="0"/>
          <a:chOff x="0" y="0"/>
          <a:chExt cx="0" cy="0"/>
        </a:xfrm>
      </p:grpSpPr>
      <p:sp>
        <p:nvSpPr>
          <p:cNvPr id="401" name="Google Shape;401;p10"/>
          <p:cNvSpPr/>
          <p:nvPr/>
        </p:nvSpPr>
        <p:spPr>
          <a:xfrm>
            <a:off x="0" y="0"/>
            <a:ext cx="12191695" cy="164592"/>
          </a:xfrm>
          <a:prstGeom prst="rect">
            <a:avLst/>
          </a:prstGeom>
          <a:solidFill>
            <a:srgbClr val="2F6BFF"/>
          </a:solidFill>
          <a:ln w="12700" cap="flat" cmpd="sng">
            <a:solidFill>
              <a:srgbClr val="2F6B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2" name="Google Shape;402;p10"/>
          <p:cNvSpPr/>
          <p:nvPr/>
        </p:nvSpPr>
        <p:spPr>
          <a:xfrm>
            <a:off x="0" y="6547104"/>
            <a:ext cx="12191695" cy="310896"/>
          </a:xfrm>
          <a:prstGeom prst="rect">
            <a:avLst/>
          </a:prstGeom>
          <a:solidFill>
            <a:srgbClr val="1F2A44"/>
          </a:solidFill>
          <a:ln w="12700" cap="flat" cmpd="sng">
            <a:solidFill>
              <a:srgbClr val="1F2A44"/>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3" name="Google Shape;403;p10"/>
          <p:cNvSpPr/>
          <p:nvPr/>
        </p:nvSpPr>
        <p:spPr>
          <a:xfrm>
            <a:off x="502920" y="411480"/>
            <a:ext cx="10881360" cy="475488"/>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700" b="1" i="0" u="none" strike="noStrike" kern="0" cap="none" spc="0" normalizeH="0" baseline="0" noProof="0" dirty="0">
                <a:ln>
                  <a:noFill/>
                </a:ln>
                <a:solidFill>
                  <a:srgbClr val="1F2A44"/>
                </a:solidFill>
                <a:effectLst/>
                <a:uLnTx/>
                <a:uFillTx/>
                <a:latin typeface="Play"/>
                <a:ea typeface="Play"/>
                <a:cs typeface="Play"/>
                <a:sym typeface="Play"/>
              </a:rPr>
              <a:t>Future Work and Conclusion</a:t>
            </a:r>
            <a:endParaRPr kumimoji="0" sz="2700" b="0" i="0" u="none" strike="noStrike" kern="0" cap="none" spc="0" normalizeH="0" baseline="0" noProof="0" dirty="0">
              <a:ln>
                <a:noFill/>
              </a:ln>
              <a:solidFill>
                <a:srgbClr val="000000"/>
              </a:solidFill>
              <a:effectLst/>
              <a:uLnTx/>
              <a:uFillTx/>
              <a:latin typeface="Arial"/>
              <a:cs typeface="Arial"/>
              <a:sym typeface="Arial"/>
            </a:endParaRPr>
          </a:p>
        </p:txBody>
      </p:sp>
      <p:sp>
        <p:nvSpPr>
          <p:cNvPr id="404" name="Google Shape;404;p10"/>
          <p:cNvSpPr/>
          <p:nvPr/>
        </p:nvSpPr>
        <p:spPr>
          <a:xfrm>
            <a:off x="530352" y="941832"/>
            <a:ext cx="10698480" cy="292608"/>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6B7280"/>
                </a:solidFill>
                <a:effectLst/>
                <a:uLnTx/>
                <a:uFillTx/>
                <a:latin typeface="Arial"/>
                <a:ea typeface="Arial"/>
                <a:cs typeface="Arial"/>
                <a:sym typeface="Arial"/>
              </a:rPr>
              <a:t>What we would explore next, and what this project demonstrated.</a:t>
            </a:r>
            <a:endParaRPr kumimoji="0" sz="1100" b="0" i="0" u="none" strike="noStrike" kern="0" cap="none" spc="0" normalizeH="0" baseline="0" noProof="0">
              <a:ln>
                <a:noFill/>
              </a:ln>
              <a:solidFill>
                <a:srgbClr val="000000"/>
              </a:solidFill>
              <a:effectLst/>
              <a:uLnTx/>
              <a:uFillTx/>
              <a:latin typeface="Arial"/>
              <a:cs typeface="Arial"/>
              <a:sym typeface="Arial"/>
            </a:endParaRPr>
          </a:p>
        </p:txBody>
      </p:sp>
      <p:sp>
        <p:nvSpPr>
          <p:cNvPr id="405" name="Google Shape;405;p10"/>
          <p:cNvSpPr/>
          <p:nvPr/>
        </p:nvSpPr>
        <p:spPr>
          <a:xfrm>
            <a:off x="502920" y="6620256"/>
            <a:ext cx="2926080" cy="128016"/>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750" b="0" i="0" u="none" strike="noStrike" kern="0" cap="none" spc="0" normalizeH="0" baseline="0" noProof="0">
                <a:ln>
                  <a:noFill/>
                </a:ln>
                <a:solidFill>
                  <a:srgbClr val="E5E7EB"/>
                </a:solidFill>
                <a:effectLst/>
                <a:uLnTx/>
                <a:uFillTx/>
                <a:latin typeface="Arial"/>
                <a:ea typeface="Arial"/>
                <a:cs typeface="Arial"/>
                <a:sym typeface="Arial"/>
              </a:rPr>
              <a:t>DATA 621 Final Project | 11</a:t>
            </a:r>
            <a:endParaRPr kumimoji="0" sz="750" b="0" i="0" u="none" strike="noStrike" kern="0" cap="none" spc="0" normalizeH="0" baseline="0" noProof="0">
              <a:ln>
                <a:noFill/>
              </a:ln>
              <a:solidFill>
                <a:srgbClr val="000000"/>
              </a:solidFill>
              <a:effectLst/>
              <a:uLnTx/>
              <a:uFillTx/>
              <a:latin typeface="Arial"/>
              <a:cs typeface="Arial"/>
              <a:sym typeface="Arial"/>
            </a:endParaRPr>
          </a:p>
        </p:txBody>
      </p:sp>
      <p:sp>
        <p:nvSpPr>
          <p:cNvPr id="400" name="Google Shape;400;p10"/>
          <p:cNvSpPr/>
          <p:nvPr/>
        </p:nvSpPr>
        <p:spPr>
          <a:xfrm>
            <a:off x="502920" y="1234440"/>
            <a:ext cx="5350000" cy="5112664"/>
          </a:xfrm>
          <a:prstGeom prst="roundRect">
            <a:avLst>
              <a:gd name="adj" fmla="val 4800"/>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 name="Google Shape;401;p10"/>
          <p:cNvSpPr/>
          <p:nvPr/>
        </p:nvSpPr>
        <p:spPr>
          <a:xfrm>
            <a:off x="502920" y="1234440"/>
            <a:ext cx="73152" cy="5112664"/>
          </a:xfrm>
          <a:prstGeom prst="rect">
            <a:avLst/>
          </a:prstGeom>
          <a:solidFill>
            <a:srgbClr val="2F6BFF"/>
          </a:solidFill>
          <a:ln w="12700" cap="flat" cmpd="sng">
            <a:solidFill>
              <a:srgbClr val="2F6B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Google Shape;402;p10"/>
          <p:cNvSpPr/>
          <p:nvPr/>
        </p:nvSpPr>
        <p:spPr>
          <a:xfrm>
            <a:off x="777240" y="1380744"/>
            <a:ext cx="5002528"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1F2A44"/>
                </a:solidFill>
                <a:effectLst/>
                <a:uLnTx/>
                <a:uFillTx/>
                <a:latin typeface="Arial"/>
                <a:ea typeface="Arial"/>
                <a:cs typeface="Arial"/>
                <a:sym typeface="Arial"/>
              </a:rPr>
              <a:t>If We Had More Time...</a:t>
            </a:r>
            <a:endParaRPr kumimoji="0" sz="1600" b="0" i="0" u="none" strike="noStrike" kern="0" cap="none" spc="0" normalizeH="0" baseline="0" noProof="0" dirty="0">
              <a:ln>
                <a:noFill/>
              </a:ln>
              <a:solidFill>
                <a:srgbClr val="000000"/>
              </a:solidFill>
              <a:effectLst/>
              <a:uLnTx/>
              <a:uFillTx/>
              <a:latin typeface="Arial"/>
              <a:cs typeface="Arial"/>
              <a:sym typeface="Arial"/>
            </a:endParaRPr>
          </a:p>
        </p:txBody>
      </p:sp>
      <p:sp>
        <p:nvSpPr>
          <p:cNvPr id="4" name="Google Shape;403;p10"/>
          <p:cNvSpPr/>
          <p:nvPr/>
        </p:nvSpPr>
        <p:spPr>
          <a:xfrm>
            <a:off x="777240" y="1700784"/>
            <a:ext cx="5002528" cy="4554880"/>
          </a:xfrm>
          <a:prstGeom prst="rect">
            <a:avLst/>
          </a:prstGeom>
          <a:noFill/>
          <a:ln>
            <a:noFill/>
          </a:ln>
        </p:spPr>
        <p:txBody>
          <a:bodyPr spcFirstLastPara="1" wrap="square" lIns="0" tIns="0" rIns="0" bIns="0" anchor="ctr" anchorCtr="0">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4B5563"/>
                </a:solidFill>
                <a:effectLst/>
                <a:uLnTx/>
                <a:uFillTx/>
                <a:latin typeface="Arial"/>
                <a:ea typeface="Arial"/>
                <a:cs typeface="Arial"/>
                <a:sym typeface="Arial"/>
              </a:rPr>
              <a:t>Classify deepfake methods — identify </a:t>
            </a:r>
            <a:r>
              <a:rPr kumimoji="0" lang="en-US" b="0" i="0" u="none" strike="noStrike" kern="0" cap="none" spc="0" normalizeH="0" baseline="0" noProof="0" dirty="0" err="1">
                <a:ln>
                  <a:noFill/>
                </a:ln>
                <a:solidFill>
                  <a:srgbClr val="4B5563"/>
                </a:solidFill>
                <a:effectLst/>
                <a:uLnTx/>
                <a:uFillTx/>
                <a:latin typeface="Arial"/>
                <a:ea typeface="Arial"/>
                <a:cs typeface="Arial"/>
                <a:sym typeface="Arial"/>
              </a:rPr>
              <a:t>FaceSwap</a:t>
            </a:r>
            <a:r>
              <a:rPr kumimoji="0" lang="en-US" b="0" i="0" u="none" strike="noStrike" kern="0" cap="none" spc="0" normalizeH="0" baseline="0" noProof="0" dirty="0">
                <a:ln>
                  <a:noFill/>
                </a:ln>
                <a:solidFill>
                  <a:srgbClr val="4B5563"/>
                </a:solidFill>
                <a:effectLst/>
                <a:uLnTx/>
                <a:uFillTx/>
                <a:latin typeface="Arial"/>
                <a:ea typeface="Arial"/>
                <a:cs typeface="Arial"/>
                <a:sym typeface="Arial"/>
              </a:rPr>
              <a:t>, Face2Face, and </a:t>
            </a:r>
            <a:r>
              <a:rPr kumimoji="0" lang="en-US" b="0" i="0" u="none" strike="noStrike" kern="0" cap="none" spc="0" normalizeH="0" baseline="0" noProof="0" dirty="0" err="1">
                <a:ln>
                  <a:noFill/>
                </a:ln>
                <a:solidFill>
                  <a:srgbClr val="4B5563"/>
                </a:solidFill>
                <a:effectLst/>
                <a:uLnTx/>
                <a:uFillTx/>
                <a:latin typeface="Arial"/>
                <a:ea typeface="Arial"/>
                <a:cs typeface="Arial"/>
                <a:sym typeface="Arial"/>
              </a:rPr>
              <a:t>NeuralTextures</a:t>
            </a:r>
            <a:r>
              <a:rPr kumimoji="0" lang="en-US" b="0" i="0" u="none" strike="noStrike" kern="0" cap="none" spc="0" normalizeH="0" baseline="0" noProof="0" dirty="0">
                <a:ln>
                  <a:noFill/>
                </a:ln>
                <a:solidFill>
                  <a:srgbClr val="4B5563"/>
                </a:solidFill>
                <a:effectLst/>
                <a:uLnTx/>
                <a:uFillTx/>
                <a:latin typeface="Arial"/>
                <a:ea typeface="Arial"/>
                <a:cs typeface="Arial"/>
                <a:sym typeface="Arial"/>
              </a:rPr>
              <a:t> as separate classes.</a:t>
            </a:r>
            <a:endParaRPr kumimoji="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4B5563"/>
                </a:solidFill>
                <a:effectLst/>
                <a:uLnTx/>
                <a:uFillTx/>
                <a:latin typeface="Arial"/>
                <a:ea typeface="Arial"/>
                <a:cs typeface="Arial"/>
                <a:sym typeface="Arial"/>
              </a:rPr>
              <a:t>Try larger models — EfficientNet-B4 or </a:t>
            </a:r>
            <a:r>
              <a:rPr kumimoji="0" lang="en-US" b="0" i="0" u="none" strike="noStrike" kern="0" cap="none" spc="0" normalizeH="0" baseline="0" noProof="0" dirty="0" err="1">
                <a:ln>
                  <a:noFill/>
                </a:ln>
                <a:solidFill>
                  <a:srgbClr val="4B5563"/>
                </a:solidFill>
                <a:effectLst/>
                <a:uLnTx/>
                <a:uFillTx/>
                <a:latin typeface="Arial"/>
                <a:ea typeface="Arial"/>
                <a:cs typeface="Arial"/>
                <a:sym typeface="Arial"/>
              </a:rPr>
              <a:t>ConvNeXt</a:t>
            </a:r>
            <a:r>
              <a:rPr kumimoji="0" lang="en-US" b="0" i="0" u="none" strike="noStrike" kern="0" cap="none" spc="0" normalizeH="0" baseline="0" noProof="0" dirty="0">
                <a:ln>
                  <a:noFill/>
                </a:ln>
                <a:solidFill>
                  <a:srgbClr val="4B5563"/>
                </a:solidFill>
                <a:effectLst/>
                <a:uLnTx/>
                <a:uFillTx/>
                <a:latin typeface="Arial"/>
                <a:ea typeface="Arial"/>
                <a:cs typeface="Arial"/>
                <a:sym typeface="Arial"/>
              </a:rPr>
              <a:t> for +2–5% accuracy gains.</a:t>
            </a:r>
            <a:endParaRPr kumimoji="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4B5563"/>
                </a:solidFill>
                <a:effectLst/>
                <a:uLnTx/>
                <a:uFillTx/>
                <a:latin typeface="Arial"/>
                <a:ea typeface="Arial"/>
                <a:cs typeface="Arial"/>
                <a:sym typeface="Arial"/>
              </a:rPr>
              <a:t>Use video clips — CNN + LSTM to catch temporal inconsistencies (blinking, lip sync).</a:t>
            </a:r>
            <a:endParaRPr kumimoji="0" lang="en-US" b="0" i="0" u="none" strike="noStrike" kern="0" cap="none" spc="0" normalizeH="0" baseline="0" noProof="0" dirty="0">
              <a:ln>
                <a:noFill/>
              </a:ln>
              <a:solidFill>
                <a:srgbClr val="000000"/>
              </a:solidFill>
              <a:effectLst/>
              <a:uLnTx/>
              <a:uFillTx/>
              <a:latin typeface="Arial"/>
              <a:cs typeface="Arial"/>
              <a:sym typeface="Arial"/>
            </a:endParaRPr>
          </a:p>
        </p:txBody>
      </p:sp>
      <p:sp>
        <p:nvSpPr>
          <p:cNvPr id="5" name="Google Shape;404;p10"/>
          <p:cNvSpPr/>
          <p:nvPr/>
        </p:nvSpPr>
        <p:spPr>
          <a:xfrm>
            <a:off x="6038920" y="1234440"/>
            <a:ext cx="5450000" cy="5112664"/>
          </a:xfrm>
          <a:prstGeom prst="roundRect">
            <a:avLst>
              <a:gd name="adj" fmla="val 4800"/>
            </a:avLst>
          </a:prstGeom>
          <a:solidFill>
            <a:srgbClr val="F3F6FB"/>
          </a:solidFill>
          <a:ln w="12700" cap="flat" cmpd="sng">
            <a:solidFill>
              <a:srgbClr val="D8DEE9">
                <a:alpha val="8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 name="Google Shape;405;p10"/>
          <p:cNvSpPr/>
          <p:nvPr/>
        </p:nvSpPr>
        <p:spPr>
          <a:xfrm>
            <a:off x="6038920" y="1234440"/>
            <a:ext cx="73152" cy="5112664"/>
          </a:xfrm>
          <a:prstGeom prst="rect">
            <a:avLst/>
          </a:prstGeom>
          <a:solidFill>
            <a:srgbClr val="0EA5A4"/>
          </a:solidFill>
          <a:ln w="12700" cap="flat" cmpd="sng">
            <a:solidFill>
              <a:srgbClr val="0EA5A4"/>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6" name="Google Shape;406;p10"/>
          <p:cNvSpPr/>
          <p:nvPr/>
        </p:nvSpPr>
        <p:spPr>
          <a:xfrm>
            <a:off x="6313240" y="1380744"/>
            <a:ext cx="5102528"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1F2A44"/>
                </a:solidFill>
                <a:effectLst/>
                <a:uLnTx/>
                <a:uFillTx/>
                <a:latin typeface="Arial"/>
                <a:ea typeface="Arial"/>
                <a:cs typeface="Arial"/>
                <a:sym typeface="Arial"/>
              </a:rPr>
              <a:t>Key Takeaways</a:t>
            </a:r>
            <a:endParaRPr kumimoji="0" sz="1600" b="0" i="0" u="none" strike="noStrike" kern="0" cap="none" spc="0" normalizeH="0" baseline="0" noProof="0" dirty="0">
              <a:ln>
                <a:noFill/>
              </a:ln>
              <a:solidFill>
                <a:srgbClr val="000000"/>
              </a:solidFill>
              <a:effectLst/>
              <a:uLnTx/>
              <a:uFillTx/>
              <a:latin typeface="Arial"/>
              <a:cs typeface="Arial"/>
              <a:sym typeface="Arial"/>
            </a:endParaRPr>
          </a:p>
        </p:txBody>
      </p:sp>
      <p:sp>
        <p:nvSpPr>
          <p:cNvPr id="407" name="Google Shape;407;p10"/>
          <p:cNvSpPr/>
          <p:nvPr/>
        </p:nvSpPr>
        <p:spPr>
          <a:xfrm>
            <a:off x="6313240" y="1700784"/>
            <a:ext cx="5102528" cy="4554880"/>
          </a:xfrm>
          <a:prstGeom prst="rect">
            <a:avLst/>
          </a:prstGeom>
          <a:noFill/>
          <a:ln>
            <a:noFill/>
          </a:ln>
        </p:spPr>
        <p:txBody>
          <a:bodyPr spcFirstLastPara="1" wrap="square" lIns="0" tIns="0" rIns="0" bIns="0" anchor="ctr" anchorCtr="0">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4B5563"/>
                </a:solidFill>
                <a:effectLst/>
                <a:uLnTx/>
                <a:uFillTx/>
                <a:latin typeface="Arial"/>
                <a:ea typeface="Arial"/>
                <a:cs typeface="Arial"/>
                <a:sym typeface="Arial"/>
              </a:rPr>
              <a:t>A complete end-to-end pipeline was built from raw videos to trained CNN.</a:t>
            </a:r>
            <a:endParaRPr kumimoji="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4B5563"/>
                </a:solidFill>
                <a:effectLst/>
                <a:uLnTx/>
                <a:uFillTx/>
                <a:latin typeface="Arial"/>
                <a:ea typeface="Arial"/>
                <a:cs typeface="Arial"/>
                <a:sym typeface="Arial"/>
              </a:rPr>
              <a:t>EfficientNet-B0 with transfer learning reached 93.27% frame accuracy.</a:t>
            </a:r>
            <a:endParaRPr kumimoji="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4B5563"/>
                </a:solidFill>
                <a:effectLst/>
                <a:uLnTx/>
                <a:uFillTx/>
                <a:latin typeface="Arial"/>
                <a:ea typeface="Arial"/>
                <a:cs typeface="Arial"/>
                <a:sym typeface="Arial"/>
              </a:rPr>
              <a:t>Video-level majority voting pushed accuracy to 97.77% on 224 test videos.</a:t>
            </a:r>
            <a:endParaRPr kumimoji="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4B5563"/>
                </a:solidFill>
                <a:effectLst/>
                <a:uLnTx/>
                <a:uFillTx/>
                <a:latin typeface="Arial"/>
                <a:ea typeface="Arial"/>
                <a:cs typeface="Arial"/>
                <a:sym typeface="Arial"/>
              </a:rPr>
              <a:t>The project demonstrates that CNNs can effectively detect deepfakes without audio or metadata.</a:t>
            </a:r>
            <a:endParaRPr kumimoji="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4B5563"/>
                </a:solidFill>
                <a:effectLst/>
                <a:uLnTx/>
                <a:uFillTx/>
                <a:latin typeface="Arial"/>
                <a:ea typeface="Arial"/>
                <a:cs typeface="Arial"/>
                <a:sym typeface="Arial"/>
              </a:rPr>
              <a:t>AUC of 0.9573 confirms the model produces reliable confidence scores.</a:t>
            </a:r>
            <a:endParaRPr kumimoji="0" b="0" i="0" u="none" strike="noStrike" kern="0" cap="none" spc="0" normalizeH="0" baseline="0" noProof="0" dirty="0">
              <a:ln>
                <a:noFill/>
              </a:ln>
              <a:solidFill>
                <a:srgbClr val="000000"/>
              </a:solidFill>
              <a:effectLst/>
              <a:uLnTx/>
              <a:uFillTx/>
              <a:latin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4"/>
        <p:cNvGrpSpPr/>
        <p:nvPr/>
      </p:nvGrpSpPr>
      <p:grpSpPr>
        <a:xfrm>
          <a:off x="0" y="0"/>
          <a:ext cx="0" cy="0"/>
          <a:chOff x="0" y="0"/>
          <a:chExt cx="0" cy="0"/>
        </a:xfrm>
      </p:grpSpPr>
      <p:sp>
        <p:nvSpPr>
          <p:cNvPr id="225" name="Google Shape;225;p11"/>
          <p:cNvSpPr/>
          <p:nvPr/>
        </p:nvSpPr>
        <p:spPr>
          <a:xfrm>
            <a:off x="0" y="0"/>
            <a:ext cx="12191695" cy="164592"/>
          </a:xfrm>
          <a:prstGeom prst="rect">
            <a:avLst/>
          </a:prstGeom>
          <a:solidFill>
            <a:srgbClr val="2F6BFF"/>
          </a:solidFill>
          <a:ln w="12700" cap="flat" cmpd="sng">
            <a:solidFill>
              <a:srgbClr val="2F6B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a:off x="0" y="6547104"/>
            <a:ext cx="12191695" cy="310896"/>
          </a:xfrm>
          <a:prstGeom prst="rect">
            <a:avLst/>
          </a:prstGeom>
          <a:solidFill>
            <a:srgbClr val="1F2A44"/>
          </a:solidFill>
          <a:ln w="12700" cap="flat" cmpd="sng">
            <a:solidFill>
              <a:srgbClr val="1F2A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a:off x="502920" y="411480"/>
            <a:ext cx="1088136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2700"/>
              <a:buFont typeface="Play"/>
              <a:buNone/>
            </a:pPr>
            <a:r>
              <a:rPr lang="en-US" sz="2700" b="1">
                <a:solidFill>
                  <a:srgbClr val="1F2A44"/>
                </a:solidFill>
                <a:latin typeface="Play"/>
                <a:ea typeface="Play"/>
                <a:cs typeface="Play"/>
                <a:sym typeface="Play"/>
              </a:rPr>
              <a:t>Reference List</a:t>
            </a:r>
            <a:endParaRPr sz="2700">
              <a:solidFill>
                <a:schemeClr val="dk1"/>
              </a:solidFill>
              <a:latin typeface="Arial"/>
              <a:ea typeface="Arial"/>
              <a:cs typeface="Arial"/>
              <a:sym typeface="Arial"/>
            </a:endParaRPr>
          </a:p>
        </p:txBody>
      </p:sp>
      <p:sp>
        <p:nvSpPr>
          <p:cNvPr id="228" name="Google Shape;228;p11"/>
          <p:cNvSpPr/>
          <p:nvPr/>
        </p:nvSpPr>
        <p:spPr>
          <a:xfrm>
            <a:off x="502920" y="6620256"/>
            <a:ext cx="292608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5E7EB"/>
              </a:buClr>
              <a:buSzPts val="750"/>
              <a:buFont typeface="Arial"/>
              <a:buNone/>
            </a:pPr>
            <a:r>
              <a:rPr lang="en-US" sz="750" dirty="0">
                <a:solidFill>
                  <a:srgbClr val="E5E7EB"/>
                </a:solidFill>
                <a:latin typeface="Arial"/>
                <a:ea typeface="Arial"/>
                <a:cs typeface="Arial"/>
                <a:sym typeface="Arial"/>
              </a:rPr>
              <a:t>DATA 621 Final Project | 12</a:t>
            </a:r>
            <a:endParaRPr sz="750" dirty="0">
              <a:solidFill>
                <a:schemeClr val="dk1"/>
              </a:solidFill>
              <a:latin typeface="Arial"/>
              <a:ea typeface="Arial"/>
              <a:cs typeface="Arial"/>
              <a:sym typeface="Arial"/>
            </a:endParaRPr>
          </a:p>
        </p:txBody>
      </p:sp>
      <p:sp>
        <p:nvSpPr>
          <p:cNvPr id="229" name="Google Shape;229;p11"/>
          <p:cNvSpPr txBox="1"/>
          <p:nvPr/>
        </p:nvSpPr>
        <p:spPr>
          <a:xfrm>
            <a:off x="568675" y="1133850"/>
            <a:ext cx="11247600" cy="5040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Paszke, A., Gross, S., Massa, F., Lerer, A., Bradbury, J., Chanan, G., Killeen, T., Lin, Z., Gimelshein, N., Antiga, L., Desmaison, A., Köpf, A., Yang, E., DeVito, Z., Raison, M., Tejani, A., Chilamkurthy, S., Steiner, B., Fang, L., Bai, J., . . . Chintala, S. (2019). PyTorch: An imperative style, high-performance deep learning library. </a:t>
            </a:r>
            <a:r>
              <a:rPr lang="en-US" i="1">
                <a:solidFill>
                  <a:schemeClr val="dk1"/>
                </a:solidFill>
              </a:rPr>
              <a:t>Advances in Neural Information Processing Systems</a:t>
            </a:r>
            <a:r>
              <a:rPr lang="en-US">
                <a:solidFill>
                  <a:schemeClr val="dk1"/>
                </a:solidFill>
              </a:rPr>
              <a:t>, </a:t>
            </a:r>
            <a:r>
              <a:rPr lang="en-US" i="1">
                <a:solidFill>
                  <a:schemeClr val="dk1"/>
                </a:solidFill>
              </a:rPr>
              <a:t>32</a:t>
            </a:r>
            <a:r>
              <a:rPr lang="en-US">
                <a:solidFill>
                  <a:schemeClr val="dk1"/>
                </a:solidFill>
              </a:rPr>
              <a:t>, 8024–8035.</a:t>
            </a:r>
            <a:r>
              <a:rPr lang="en-US">
                <a:solidFill>
                  <a:schemeClr val="dk1"/>
                </a:solidFill>
                <a:uFill>
                  <a:noFill/>
                </a:uFill>
                <a:hlinkClick r:id="rId3">
                  <a:extLst>
                    <a:ext uri="{A12FA001-AC4F-418D-AE19-62706E023703}">
                      <ahyp:hlinkClr xmlns:ahyp="http://schemas.microsoft.com/office/drawing/2018/hyperlinkcolor" val="tx"/>
                    </a:ext>
                  </a:extLst>
                </a:hlinkClick>
              </a:rPr>
              <a:t> </a:t>
            </a:r>
            <a:r>
              <a:rPr lang="en-US" u="sng">
                <a:solidFill>
                  <a:schemeClr val="hlink"/>
                </a:solidFill>
                <a:hlinkClick r:id="rId3"/>
              </a:rPr>
              <a:t>https://arxiv.org/abs/1912.01703</a:t>
            </a:r>
            <a:endParaRPr u="sng">
              <a:solidFill>
                <a:schemeClr val="hlink"/>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Rössler, A., Cozzolino, D., Verdoliva, L., Riess, C., Thies, J., &amp; Nießner, M. (2019). FaceForensics++: Learning to detect manipulated facial images. </a:t>
            </a:r>
            <a:r>
              <a:rPr lang="en-US" i="1">
                <a:solidFill>
                  <a:schemeClr val="dk1"/>
                </a:solidFill>
              </a:rPr>
              <a:t>Proceedings of the IEEE/CVF International Conference on Computer Vision (ICCV)</a:t>
            </a:r>
            <a:r>
              <a:rPr lang="en-US">
                <a:solidFill>
                  <a:schemeClr val="dk1"/>
                </a:solidFill>
              </a:rPr>
              <a:t>, 1–11.</a:t>
            </a:r>
            <a:r>
              <a:rPr lang="en-US">
                <a:solidFill>
                  <a:schemeClr val="dk1"/>
                </a:solidFill>
                <a:uFill>
                  <a:noFill/>
                </a:uFill>
                <a:hlinkClick r:id="rId4">
                  <a:extLst>
                    <a:ext uri="{A12FA001-AC4F-418D-AE19-62706E023703}">
                      <ahyp:hlinkClr xmlns:ahyp="http://schemas.microsoft.com/office/drawing/2018/hyperlinkcolor" val="tx"/>
                    </a:ext>
                  </a:extLst>
                </a:hlinkClick>
              </a:rPr>
              <a:t> </a:t>
            </a:r>
            <a:r>
              <a:rPr lang="en-US" u="sng">
                <a:solidFill>
                  <a:schemeClr val="hlink"/>
                </a:solidFill>
                <a:hlinkClick r:id="rId4"/>
              </a:rPr>
              <a:t>https://arxiv.org/abs/1901.08971</a:t>
            </a:r>
            <a:endParaRPr u="sng">
              <a:solidFill>
                <a:schemeClr val="hlink"/>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Selvaraju, R. R., Cogswell, M., Das, A., Vedantam, R., Parikh, D., &amp; Batra, D. (2017). Grad-CAM: Visual explanations from deep networks via gradient-based localization. </a:t>
            </a:r>
            <a:r>
              <a:rPr lang="en-US" i="1">
                <a:solidFill>
                  <a:schemeClr val="dk1"/>
                </a:solidFill>
              </a:rPr>
              <a:t>Proceedings of the IEEE International Conference on Computer Vision (ICCV)</a:t>
            </a:r>
            <a:r>
              <a:rPr lang="en-US">
                <a:solidFill>
                  <a:schemeClr val="dk1"/>
                </a:solidFill>
              </a:rPr>
              <a:t>, 618–626.</a:t>
            </a:r>
            <a:r>
              <a:rPr lang="en-US">
                <a:solidFill>
                  <a:schemeClr val="dk1"/>
                </a:solidFill>
                <a:uFill>
                  <a:noFill/>
                </a:uFill>
                <a:hlinkClick r:id="rId5">
                  <a:extLst>
                    <a:ext uri="{A12FA001-AC4F-418D-AE19-62706E023703}">
                      <ahyp:hlinkClr xmlns:ahyp="http://schemas.microsoft.com/office/drawing/2018/hyperlinkcolor" val="tx"/>
                    </a:ext>
                  </a:extLst>
                </a:hlinkClick>
              </a:rPr>
              <a:t> </a:t>
            </a:r>
            <a:r>
              <a:rPr lang="en-US" u="sng">
                <a:solidFill>
                  <a:schemeClr val="hlink"/>
                </a:solidFill>
                <a:hlinkClick r:id="rId5"/>
              </a:rPr>
              <a:t>https://doi.org/10.1109/ICCV.2017.74</a:t>
            </a:r>
            <a:endParaRPr u="sng">
              <a:solidFill>
                <a:schemeClr val="hlink"/>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Tan, M., &amp; Le, Q. V. (2019). EfficientNet: Rethinking model scaling for convolutional neural networks. </a:t>
            </a:r>
            <a:r>
              <a:rPr lang="en-US" i="1">
                <a:solidFill>
                  <a:schemeClr val="dk1"/>
                </a:solidFill>
              </a:rPr>
              <a:t>Proceedings of the 36th International Conference on Machine Learning (ICML)</a:t>
            </a:r>
            <a:r>
              <a:rPr lang="en-US">
                <a:solidFill>
                  <a:schemeClr val="dk1"/>
                </a:solidFill>
              </a:rPr>
              <a:t>, 6105–6114.</a:t>
            </a:r>
            <a:r>
              <a:rPr lang="en-US">
                <a:solidFill>
                  <a:schemeClr val="dk1"/>
                </a:solidFill>
                <a:uFill>
                  <a:noFill/>
                </a:uFill>
                <a:hlinkClick r:id="rId6">
                  <a:extLst>
                    <a:ext uri="{A12FA001-AC4F-418D-AE19-62706E023703}">
                      <ahyp:hlinkClr xmlns:ahyp="http://schemas.microsoft.com/office/drawing/2018/hyperlinkcolor" val="tx"/>
                    </a:ext>
                  </a:extLst>
                </a:hlinkClick>
              </a:rPr>
              <a:t> </a:t>
            </a:r>
            <a:r>
              <a:rPr lang="en-US" u="sng">
                <a:solidFill>
                  <a:schemeClr val="hlink"/>
                </a:solidFill>
                <a:hlinkClick r:id="rId6"/>
              </a:rPr>
              <a:t>https://arxiv.org/abs/1905.11946</a:t>
            </a:r>
            <a:endParaRPr u="sng">
              <a:solidFill>
                <a:schemeClr val="hlink"/>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Tiwarekar, S. (2023). </a:t>
            </a:r>
            <a:r>
              <a:rPr lang="en-US" i="1">
                <a:solidFill>
                  <a:schemeClr val="dk1"/>
                </a:solidFill>
              </a:rPr>
              <a:t>Deep Fake Detection (DFD) entire original dataset</a:t>
            </a:r>
            <a:r>
              <a:rPr lang="en-US">
                <a:solidFill>
                  <a:schemeClr val="dk1"/>
                </a:solidFill>
              </a:rPr>
              <a:t> [Data set]. Kaggle.</a:t>
            </a:r>
            <a:r>
              <a:rPr lang="en-US">
                <a:solidFill>
                  <a:schemeClr val="dk1"/>
                </a:solidFill>
                <a:uFill>
                  <a:noFill/>
                </a:uFill>
                <a:hlinkClick r:id="rId7">
                  <a:extLst>
                    <a:ext uri="{A12FA001-AC4F-418D-AE19-62706E023703}">
                      <ahyp:hlinkClr xmlns:ahyp="http://schemas.microsoft.com/office/drawing/2018/hyperlinkcolor" val="tx"/>
                    </a:ext>
                  </a:extLst>
                </a:hlinkClick>
              </a:rPr>
              <a:t> </a:t>
            </a:r>
            <a:r>
              <a:rPr lang="en-US" u="sng">
                <a:solidFill>
                  <a:schemeClr val="hlink"/>
                </a:solidFill>
                <a:hlinkClick r:id="rId7"/>
              </a:rPr>
              <a:t>https://www.kaggle.com/datasets/sanikatiwarekar/deep-fake-detection-dfd-entire-original-dataset</a:t>
            </a:r>
            <a:endParaRPr u="sng">
              <a:solidFill>
                <a:schemeClr val="hlink"/>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Zhang, K., Zhang, Z., Li, Z., &amp; Qiao, Y. (2016). Joint face detection and alignment using multitask cascaded convolutional networks. </a:t>
            </a:r>
            <a:r>
              <a:rPr lang="en-US" i="1">
                <a:solidFill>
                  <a:schemeClr val="dk1"/>
                </a:solidFill>
              </a:rPr>
              <a:t>IEEE Signal Processing Letters</a:t>
            </a:r>
            <a:r>
              <a:rPr lang="en-US">
                <a:solidFill>
                  <a:schemeClr val="dk1"/>
                </a:solidFill>
              </a:rPr>
              <a:t>, </a:t>
            </a:r>
            <a:r>
              <a:rPr lang="en-US" i="1">
                <a:solidFill>
                  <a:schemeClr val="dk1"/>
                </a:solidFill>
              </a:rPr>
              <a:t>23</a:t>
            </a:r>
            <a:r>
              <a:rPr lang="en-US">
                <a:solidFill>
                  <a:schemeClr val="dk1"/>
                </a:solidFill>
              </a:rPr>
              <a:t>(10), 1499–1503.</a:t>
            </a:r>
            <a:r>
              <a:rPr lang="en-US">
                <a:solidFill>
                  <a:schemeClr val="dk1"/>
                </a:solidFill>
                <a:uFill>
                  <a:noFill/>
                </a:uFill>
                <a:hlinkClick r:id="rId8">
                  <a:extLst>
                    <a:ext uri="{A12FA001-AC4F-418D-AE19-62706E023703}">
                      <ahyp:hlinkClr xmlns:ahyp="http://schemas.microsoft.com/office/drawing/2018/hyperlinkcolor" val="tx"/>
                    </a:ext>
                  </a:extLst>
                </a:hlinkClick>
              </a:rPr>
              <a:t> </a:t>
            </a:r>
            <a:r>
              <a:rPr lang="en-US" u="sng">
                <a:solidFill>
                  <a:schemeClr val="hlink"/>
                </a:solidFill>
                <a:hlinkClick r:id="rId8"/>
              </a:rPr>
              <a:t>https://doi.org/10.1109/LSP.2016.2603342</a:t>
            </a:r>
            <a:endParaRPr u="sng">
              <a:solidFill>
                <a:schemeClr val="hlink"/>
              </a:solidFill>
            </a:endParaRPr>
          </a:p>
          <a:p>
            <a:pPr marL="0" lvl="0" indent="0" algn="l" rtl="0">
              <a:spcBef>
                <a:spcPts val="1200"/>
              </a:spcBef>
              <a:spcAft>
                <a:spcPts val="0"/>
              </a:spcAft>
              <a:buNone/>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1869</TotalTime>
  <Words>1577</Words>
  <Application>Microsoft Office PowerPoint</Application>
  <PresentationFormat>Widescreen</PresentationFormat>
  <Paragraphs>205</Paragraphs>
  <Slides>12</Slides>
  <Notes>11</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12</vt:i4>
      </vt:variant>
    </vt:vector>
  </HeadingPairs>
  <TitlesOfParts>
    <vt:vector size="16" baseType="lpstr">
      <vt:lpstr>Play</vt:lpstr>
      <vt:lpstr>Arial</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Ben Wayland</dc:creator>
  <cp:lastModifiedBy>Luke Lu</cp:lastModifiedBy>
  <cp:revision>3</cp:revision>
  <dcterms:created xsi:type="dcterms:W3CDTF">2026-05-07T02:32:28Z</dcterms:created>
  <dcterms:modified xsi:type="dcterms:W3CDTF">2026-05-12T02:53:38Z</dcterms:modified>
</cp:coreProperties>
</file>